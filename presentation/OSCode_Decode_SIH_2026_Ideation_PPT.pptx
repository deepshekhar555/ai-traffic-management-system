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61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none">
            <a:spAutoFit/>
          </a:bodyPr>
          <a:lstStyle/>
          <a:p>
            <a:pPr>
              <a:defRPr sz="4400" b="1">
                <a:solidFill>
                  <a:srgbClr val="000000"/>
                </a:solidFill>
                <a:latin typeface="Arial"/>
              </a:defRPr>
            </a:pPr>
            <a:r>
              <a:t>DECODE SIH 2026</a:t>
            </a:r>
          </a:p>
        </p:txBody>
      </p:sp>
      <p:sp>
        <p:nvSpPr>
          <p:cNvPr id="7" name="TextBox 6"/>
          <p:cNvSpPr txBox="1"/>
          <p:nvPr/>
        </p:nvSpPr>
        <p:spPr>
          <a:xfrm>
            <a:off x="731520" y="2743200"/>
            <a:ext cx="8686800" cy="1371600"/>
          </a:xfrm>
          <a:prstGeom prst="rect">
            <a:avLst/>
          </a:prstGeom>
          <a:noFill/>
        </p:spPr>
        <p:txBody>
          <a:bodyPr wrap="square">
            <a:spAutoFit/>
          </a:bodyPr>
          <a:lstStyle/>
          <a:p>
            <a:pPr>
              <a:defRPr sz="3600" b="1">
                <a:solidFill>
                  <a:srgbClr val="000000"/>
                </a:solidFill>
                <a:latin typeface="Arial"/>
              </a:defRPr>
            </a:pPr>
            <a:r>
              <a:t>TraffixAI: Multi-Lane Real-Time AI Traffic Digital Twin</a:t>
            </a:r>
          </a:p>
        </p:txBody>
      </p:sp>
      <p:sp>
        <p:nvSpPr>
          <p:cNvPr id="8" name="TextBox 7"/>
          <p:cNvSpPr txBox="1"/>
          <p:nvPr/>
        </p:nvSpPr>
        <p:spPr>
          <a:xfrm>
            <a:off x="731520" y="5303520"/>
            <a:ext cx="8686800" cy="914400"/>
          </a:xfrm>
          <a:prstGeom prst="rect">
            <a:avLst/>
          </a:prstGeom>
          <a:noFill/>
        </p:spPr>
        <p:txBody>
          <a:bodyPr wrap="none">
            <a:spAutoFit/>
          </a:bodyPr>
          <a:lstStyle/>
          <a:p>
            <a:pPr>
              <a:defRPr sz="1600" b="1">
                <a:solidFill>
                  <a:srgbClr val="000000"/>
                </a:solidFill>
                <a:latin typeface="Arial"/>
              </a:defRPr>
            </a:pPr>
            <a:r>
              <a:t>PRESENTED BY:</a:t>
            </a:r>
            <a:br/>
            <a:r>
              <a:t>CipherSquad (Team Code: KE5VND)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TEAM MEMBERS</a:t>
            </a:r>
          </a:p>
        </p:txBody>
      </p:sp>
      <p:sp>
        <p:nvSpPr>
          <p:cNvPr id="7" name="TextBox 6"/>
          <p:cNvSpPr txBox="1"/>
          <p:nvPr/>
        </p:nvSpPr>
        <p:spPr>
          <a:xfrm>
            <a:off x="731520" y="1645920"/>
            <a:ext cx="7772400" cy="4572000"/>
          </a:xfrm>
          <a:prstGeom prst="rect">
            <a:avLst/>
          </a:prstGeom>
          <a:noFill/>
        </p:spPr>
        <p:txBody>
          <a:bodyPr wrap="square">
            <a:spAutoFit/>
          </a:bodyPr>
          <a:lstStyle/>
          <a:p>
            <a:pPr>
              <a:defRPr sz="1800" b="1">
                <a:solidFill>
                  <a:srgbClr val="000000"/>
                </a:solidFill>
                <a:latin typeface="Arial"/>
              </a:defRPr>
            </a:pPr>
            <a:r>
              <a:t>• Deep shekhar Halder (Team Leader)</a:t>
            </a:r>
          </a:p>
          <a:p>
            <a:pPr>
              <a:defRPr sz="1300">
                <a:solidFill>
                  <a:srgbClr val="505050"/>
                </a:solidFill>
                <a:latin typeface="Arial"/>
              </a:defRPr>
            </a:pPr>
            <a:r>
              <a:t>  Role: Lead AI Developer (YOLO integration, Centroid Speed tracker algorithms, &amp; Incident validation)</a:t>
            </a:r>
            <a:br/>
            <a:endParaRPr/>
          </a:p>
          <a:p>
            <a:pPr>
              <a:defRPr sz="1800" b="1">
                <a:solidFill>
                  <a:srgbClr val="000000"/>
                </a:solidFill>
                <a:latin typeface="Arial"/>
              </a:defRPr>
            </a:pPr>
            <a:r>
              <a:t>• Sayan Pramanik</a:t>
            </a:r>
          </a:p>
          <a:p>
            <a:pPr>
              <a:defRPr sz="1300">
                <a:solidFill>
                  <a:srgbClr val="505050"/>
                </a:solidFill>
                <a:latin typeface="Arial"/>
              </a:defRPr>
            </a:pPr>
            <a:r>
              <a:t>  Role: Frontend &amp; Rendering Developer (2D Spatial Digital Twin dashboard overlay, Performance overlays, &amp; UI stats)</a:t>
            </a:r>
            <a:br/>
            <a:endParaRPr/>
          </a:p>
          <a:p>
            <a:pPr>
              <a:defRPr sz="1800" b="1">
                <a:solidFill>
                  <a:srgbClr val="000000"/>
                </a:solidFill>
                <a:latin typeface="Arial"/>
              </a:defRPr>
            </a:pPr>
            <a:r>
              <a:t>• Ashfaque Ahamed Khan</a:t>
            </a:r>
          </a:p>
          <a:p>
            <a:pPr>
              <a:defRPr sz="1300">
                <a:solidFill>
                  <a:srgbClr val="505050"/>
                </a:solidFill>
                <a:latin typeface="Arial"/>
              </a:defRPr>
            </a:pPr>
            <a:r>
              <a:t>  Role: Backend &amp; Database Developer (Lane Signaling state machine, SQLite logging, &amp; Emergency service dispatchers)</a:t>
            </a:r>
            <a:b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PROBLEM STATEMENT</a:t>
            </a:r>
          </a:p>
        </p:txBody>
      </p:sp>
      <p:sp>
        <p:nvSpPr>
          <p:cNvPr id="7" name="TextBox 6"/>
          <p:cNvSpPr txBox="1"/>
          <p:nvPr/>
        </p:nvSpPr>
        <p:spPr>
          <a:xfrm>
            <a:off x="731520" y="1463040"/>
            <a:ext cx="7772400" cy="4754880"/>
          </a:xfrm>
          <a:prstGeom prst="rect">
            <a:avLst/>
          </a:prstGeom>
          <a:noFill/>
        </p:spPr>
        <p:txBody>
          <a:bodyPr wrap="square">
            <a:spAutoFit/>
          </a:bodyPr>
          <a:lstStyle/>
          <a:p>
            <a:pPr>
              <a:defRPr sz="1600" b="1">
                <a:solidFill>
                  <a:srgbClr val="000000"/>
                </a:solidFill>
                <a:latin typeface="Arial"/>
              </a:defRPr>
            </a:pPr>
            <a:r>
              <a:t>Problem Title (Pick from OSCode's Decode SIH 2026 list - link)</a:t>
            </a:r>
          </a:p>
          <a:p>
            <a:pPr>
              <a:defRPr sz="1200">
                <a:solidFill>
                  <a:srgbClr val="505050"/>
                </a:solidFill>
                <a:latin typeface="Arial"/>
              </a:defRPr>
            </a:pPr>
            <a:r>
              <a:t>PS1: AI Traffic Digital Twin for smart traffic optimization and congestion prediction (BHARAT NIRMAN Track)</a:t>
            </a:r>
            <a:br/>
            <a:endParaRPr/>
          </a:p>
          <a:p>
            <a:pPr>
              <a:defRPr sz="1600" b="1">
                <a:solidFill>
                  <a:srgbClr val="000000"/>
                </a:solidFill>
                <a:latin typeface="Arial"/>
              </a:defRPr>
            </a:pPr>
            <a:r>
              <a:t>What does this Problem Aim to Solve?</a:t>
            </a:r>
          </a:p>
          <a:p>
            <a:pPr>
              <a:defRPr sz="1200">
                <a:solidFill>
                  <a:srgbClr val="505050"/>
                </a:solidFill>
                <a:latin typeface="Arial"/>
              </a:defRPr>
            </a:pPr>
            <a:r>
              <a:t>Urban traffic congestion in Indian cities causes massive economic losses, increased carbon emissions, and critical emergency response delays. Current traffic control systems are static (run on fixed timers) or rely on manual intervention. They cannot adapt to real-time traffic density variations, track lane-specific traffic volume, or automatically clear paths for emergency vehicles.</a:t>
            </a:r>
            <a:br/>
            <a:endParaRPr/>
          </a:p>
          <a:p>
            <a:pPr>
              <a:defRPr sz="1600" b="1">
                <a:solidFill>
                  <a:srgbClr val="000000"/>
                </a:solidFill>
                <a:latin typeface="Arial"/>
              </a:defRPr>
            </a:pPr>
            <a:r>
              <a:t>Why did your team choose this?</a:t>
            </a:r>
          </a:p>
          <a:p>
            <a:pPr>
              <a:defRPr sz="1200">
                <a:solidFill>
                  <a:srgbClr val="505050"/>
                </a:solidFill>
                <a:latin typeface="Arial"/>
              </a:defRPr>
            </a:pPr>
            <a:r>
              <a:t>Traffic congestion directly impacts daily life, emergency response times, and fuel wastage. We chose this because we have built a working core of an edge-optimized AI traffic management tool. By developing an active 2D Spatial Digital Twin, we can translate raw video feeds into digital spatial coordinates to optimize traffic flow dynamically and save lives.</a:t>
            </a:r>
            <a:b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REAL-WORLD PROBLEM ALIGNMENT</a:t>
            </a:r>
          </a:p>
        </p:txBody>
      </p:sp>
      <p:sp>
        <p:nvSpPr>
          <p:cNvPr id="7" name="TextBox 6"/>
          <p:cNvSpPr txBox="1"/>
          <p:nvPr/>
        </p:nvSpPr>
        <p:spPr>
          <a:xfrm>
            <a:off x="731520" y="1371600"/>
            <a:ext cx="7772400" cy="5029200"/>
          </a:xfrm>
          <a:prstGeom prst="rect">
            <a:avLst/>
          </a:prstGeom>
          <a:noFill/>
        </p:spPr>
        <p:txBody>
          <a:bodyPr wrap="square">
            <a:spAutoFit/>
          </a:bodyPr>
          <a:lstStyle/>
          <a:p>
            <a:pPr>
              <a:defRPr sz="1500" b="1">
                <a:solidFill>
                  <a:srgbClr val="000000"/>
                </a:solidFill>
                <a:latin typeface="Arial"/>
              </a:defRPr>
            </a:pPr>
            <a:r>
              <a:t>Who faces this issue?</a:t>
            </a:r>
          </a:p>
          <a:p>
            <a:pPr>
              <a:defRPr sz="1200">
                <a:solidFill>
                  <a:srgbClr val="505050"/>
                </a:solidFill>
                <a:latin typeface="Arial"/>
              </a:defRPr>
            </a:pPr>
            <a:r>
              <a:t>Daily commuters &amp; transport services, emergency services (ambulances), and smart city administrations.</a:t>
            </a:r>
            <a:br/>
            <a:endParaRPr/>
          </a:p>
          <a:p>
            <a:pPr>
              <a:defRPr sz="1500" b="1">
                <a:solidFill>
                  <a:srgbClr val="000000"/>
                </a:solidFill>
                <a:latin typeface="Arial"/>
              </a:defRPr>
            </a:pPr>
            <a:r>
              <a:t>What's the current gap in the system?</a:t>
            </a:r>
          </a:p>
          <a:p>
            <a:pPr>
              <a:defRPr sz="1200">
                <a:solidFill>
                  <a:srgbClr val="505050"/>
                </a:solidFill>
                <a:latin typeface="Arial"/>
              </a:defRPr>
            </a:pPr>
            <a:r>
              <a:t>Lack of lane-level traffic density awareness, static traffic lights, no spatiotemporal congestion forecasting, and no emergency vehicle signal overrides.</a:t>
            </a:r>
            <a:br/>
            <a:endParaRPr/>
          </a:p>
          <a:p>
            <a:pPr>
              <a:defRPr sz="1500" b="1">
                <a:solidFill>
                  <a:srgbClr val="000000"/>
                </a:solidFill>
                <a:latin typeface="Arial"/>
              </a:defRPr>
            </a:pPr>
            <a:r>
              <a:t>How does your proposed solution fill that gap practically?</a:t>
            </a:r>
          </a:p>
          <a:p>
            <a:pPr>
              <a:defRPr sz="1200">
                <a:solidFill>
                  <a:srgbClr val="505050"/>
                </a:solidFill>
                <a:latin typeface="Arial"/>
              </a:defRPr>
            </a:pPr>
            <a:r>
              <a:t>Uses YOLO object classification and speed trackers to measure lane queues. Adjusts signals dynamically, clears routes for ambulances, and maps details on a 2D Digital Twin.</a:t>
            </a:r>
            <a:br/>
            <a:endParaRPr/>
          </a:p>
          <a:p>
            <a:pPr>
              <a:defRPr sz="1500" b="1">
                <a:solidFill>
                  <a:srgbClr val="000000"/>
                </a:solidFill>
                <a:latin typeface="Arial"/>
              </a:defRPr>
            </a:pPr>
            <a:r>
              <a:t>If possible, mention if it connects to any existing schemes.</a:t>
            </a:r>
          </a:p>
          <a:p>
            <a:pPr>
              <a:defRPr sz="1200">
                <a:solidFill>
                  <a:srgbClr val="505050"/>
                </a:solidFill>
                <a:latin typeface="Arial"/>
              </a:defRPr>
            </a:pPr>
            <a:r>
              <a:t>Connects directly with the Smart Cities Mission (intelligent transport systems) and Digital India (localized edge computing solutions).</a:t>
            </a:r>
            <a:b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PROPOSED SOLUTION</a:t>
            </a:r>
          </a:p>
        </p:txBody>
      </p:sp>
      <p:sp>
        <p:nvSpPr>
          <p:cNvPr id="7" name="TextBox 6"/>
          <p:cNvSpPr txBox="1"/>
          <p:nvPr/>
        </p:nvSpPr>
        <p:spPr>
          <a:xfrm>
            <a:off x="731520" y="1371600"/>
            <a:ext cx="7772400" cy="5029200"/>
          </a:xfrm>
          <a:prstGeom prst="rect">
            <a:avLst/>
          </a:prstGeom>
          <a:noFill/>
        </p:spPr>
        <p:txBody>
          <a:bodyPr wrap="square">
            <a:spAutoFit/>
          </a:bodyPr>
          <a:lstStyle/>
          <a:p>
            <a:pPr>
              <a:defRPr sz="1500" b="1">
                <a:solidFill>
                  <a:srgbClr val="000000"/>
                </a:solidFill>
                <a:latin typeface="Arial"/>
              </a:defRPr>
            </a:pPr>
            <a:r>
              <a:t>What are you Building?</a:t>
            </a:r>
          </a:p>
          <a:p>
            <a:pPr>
              <a:defRPr sz="1200">
                <a:solidFill>
                  <a:srgbClr val="505050"/>
                </a:solidFill>
                <a:latin typeface="Arial"/>
              </a:defRPr>
            </a:pPr>
            <a:r>
              <a:t>TraffixAI is a localized, reactive AI Traffic Digital Twin. Using an edge-optimized YOLOv26n model, the system detects and tracks cars, trucks, motorcycles, and pedestrians lane-by-lane. It measures real-time queue densities and vehicle velocities to dynamically adjust signal durations. Crucially, the system offers Explainable AI (XAI) justifications to traffic operators and calculates real-time carbon offsets (CO2 saved) based on reduced vehicle idling times.</a:t>
            </a:r>
            <a:br/>
            <a:endParaRPr/>
          </a:p>
          <a:p>
            <a:pPr>
              <a:defRPr sz="1500" b="1">
                <a:solidFill>
                  <a:srgbClr val="000000"/>
                </a:solidFill>
                <a:latin typeface="Arial"/>
              </a:defRPr>
            </a:pPr>
            <a:r>
              <a:t>What are the 3-4 Key Features?</a:t>
            </a:r>
          </a:p>
          <a:p>
            <a:pPr>
              <a:defRPr sz="1200">
                <a:solidFill>
                  <a:srgbClr val="505050"/>
                </a:solidFill>
                <a:latin typeface="Arial"/>
              </a:defRPr>
            </a:pPr>
            <a:r>
              <a:t>1. Real-Time 2D Spatial Digital Twin Map</a:t>
            </a:r>
            <a:br/>
            <a:r>
              <a:t>2. Adaptive Lane Signaling &amp; Emergency Override</a:t>
            </a:r>
            <a:br/>
            <a:r>
              <a:t>3. Explainable AI (XAI) Decisional Log</a:t>
            </a:r>
            <a:br/>
            <a:r>
              <a:t>4. Eco-Impact Carbon Offset (CO2 Saved) Tracker</a:t>
            </a:r>
            <a:br/>
            <a:endParaRPr/>
          </a:p>
          <a:p>
            <a:pPr>
              <a:defRPr sz="1500" b="1">
                <a:solidFill>
                  <a:srgbClr val="000000"/>
                </a:solidFill>
                <a:latin typeface="Arial"/>
              </a:defRPr>
            </a:pPr>
            <a:r>
              <a:t>What makes it different or innovative?</a:t>
            </a:r>
          </a:p>
          <a:p>
            <a:pPr>
              <a:defRPr sz="1200">
                <a:solidFill>
                  <a:srgbClr val="505050"/>
                </a:solidFill>
                <a:latin typeface="Arial"/>
              </a:defRPr>
            </a:pPr>
            <a:r>
              <a:t>Unlike observational screens, TraffixAI is fully reactive. It integrates computer vision, 2D digital twin spatial mapping, adaptive signal logic, Explainable AI reasoning, carbon offset tracking, and emergency calls into a single lightweight, thread-safe system that can be deployed at low cost on edge nodes.</a:t>
            </a:r>
            <a:b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TECH STACK &amp; ARCHITECTURE</a:t>
            </a:r>
          </a:p>
        </p:txBody>
      </p:sp>
      <p:sp>
        <p:nvSpPr>
          <p:cNvPr id="7" name="TextBox 6"/>
          <p:cNvSpPr txBox="1"/>
          <p:nvPr/>
        </p:nvSpPr>
        <p:spPr>
          <a:xfrm>
            <a:off x="731520" y="1371600"/>
            <a:ext cx="7772400" cy="5029200"/>
          </a:xfrm>
          <a:prstGeom prst="rect">
            <a:avLst/>
          </a:prstGeom>
          <a:noFill/>
        </p:spPr>
        <p:txBody>
          <a:bodyPr wrap="square">
            <a:spAutoFit/>
          </a:bodyPr>
          <a:lstStyle/>
          <a:p>
            <a:pPr>
              <a:defRPr sz="1500" b="1">
                <a:solidFill>
                  <a:srgbClr val="000000"/>
                </a:solidFill>
                <a:latin typeface="Arial"/>
              </a:defRPr>
            </a:pPr>
            <a:r>
              <a:t>Tech Stack</a:t>
            </a:r>
          </a:p>
          <a:p>
            <a:pPr>
              <a:defRPr sz="1200">
                <a:solidFill>
                  <a:srgbClr val="505050"/>
                </a:solidFill>
                <a:latin typeface="Arial"/>
              </a:defRPr>
            </a:pPr>
            <a:r>
              <a:t>Next.js/React (Dashboard), Python 3.14 (Backend Core), YOLOv26n (Computer Vision Model), SQLite (Logging DB)</a:t>
            </a:r>
            <a:br/>
            <a:endParaRPr/>
          </a:p>
          <a:p>
            <a:pPr>
              <a:defRPr sz="1500" b="1">
                <a:solidFill>
                  <a:srgbClr val="000000"/>
                </a:solidFill>
                <a:latin typeface="Arial"/>
              </a:defRPr>
            </a:pPr>
            <a:r>
              <a:t>APIs/Libraries</a:t>
            </a:r>
          </a:p>
          <a:p>
            <a:pPr>
              <a:defRPr sz="1200">
                <a:solidFill>
                  <a:srgbClr val="505050"/>
                </a:solidFill>
                <a:latin typeface="Arial"/>
              </a:defRPr>
            </a:pPr>
            <a:r>
              <a:t>cv2, numpy, ultralytics, winsound, pyttsx3, datetime, math</a:t>
            </a:r>
            <a:br/>
            <a:endParaRPr/>
          </a:p>
          <a:p>
            <a:pPr>
              <a:defRPr sz="1500" b="1">
                <a:solidFill>
                  <a:srgbClr val="000000"/>
                </a:solidFill>
                <a:latin typeface="Arial"/>
              </a:defRPr>
            </a:pPr>
            <a:r>
              <a:t>Deployment Plan</a:t>
            </a:r>
          </a:p>
          <a:p>
            <a:pPr>
              <a:defRPr sz="1200">
                <a:solidFill>
                  <a:srgbClr val="505050"/>
                </a:solidFill>
                <a:latin typeface="Arial"/>
              </a:defRPr>
            </a:pPr>
            <a:r>
              <a:t>Edge Node: Containerized Docker running on NVIDIA Jetson Orin Nano or Raspberry Pi 5 at intersections.</a:t>
            </a:r>
            <a:br/>
            <a:r>
              <a:t>Cloud Dashboard: React Web UI connecting via WebSockets for central monitoring and GPS hotspot maps.</a:t>
            </a:r>
            <a:br/>
            <a:endParaRPr/>
          </a:p>
          <a:p>
            <a:pPr>
              <a:defRPr sz="1500" b="1">
                <a:solidFill>
                  <a:srgbClr val="000000"/>
                </a:solidFill>
                <a:latin typeface="Arial"/>
              </a:defRPr>
            </a:pPr>
            <a:r>
              <a:t>High-level Block Diagram OR Architecture</a:t>
            </a:r>
          </a:p>
          <a:p>
            <a:pPr>
              <a:defRPr sz="1200">
                <a:solidFill>
                  <a:srgbClr val="505050"/>
                </a:solidFill>
                <a:latin typeface="Arial"/>
              </a:defRPr>
            </a:pPr>
            <a:r>
              <a:t>Camera Feed ➔ YOLO Object Detector ➔ Lane Division &amp; Tracking ➔ Speed/Incident Analyzers ➔ Digital Twin UI / CO2 Savings Dashboard ➔ Adaptive Signal Timing Override</a:t>
            </a:r>
            <a:b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ARCHITECTURE DIAGRAM</a:t>
            </a:r>
          </a:p>
        </p:txBody>
      </p:sp>
      <p:sp>
        <p:nvSpPr>
          <p:cNvPr id="7" name="TextBox 6"/>
          <p:cNvSpPr txBox="1"/>
          <p:nvPr/>
        </p:nvSpPr>
        <p:spPr>
          <a:xfrm>
            <a:off x="731520" y="1371600"/>
            <a:ext cx="3840480" cy="3077766"/>
          </a:xfrm>
          <a:prstGeom prst="rect">
            <a:avLst/>
          </a:prstGeom>
          <a:noFill/>
        </p:spPr>
        <p:txBody>
          <a:bodyPr wrap="square">
            <a:spAutoFit/>
          </a:bodyPr>
          <a:lstStyle/>
          <a:p>
            <a:pPr>
              <a:defRPr sz="1400" b="1">
                <a:solidFill>
                  <a:srgbClr val="000000"/>
                </a:solidFill>
                <a:latin typeface="Arial"/>
              </a:defRPr>
            </a:pPr>
            <a:r>
              <a:rPr dirty="0"/>
              <a:t>Show the Technical Flow using a simple block diagram.</a:t>
            </a:r>
          </a:p>
          <a:p>
            <a:pPr>
              <a:defRPr sz="1100">
                <a:solidFill>
                  <a:srgbClr val="505050"/>
                </a:solidFill>
                <a:latin typeface="Arial"/>
              </a:defRPr>
            </a:pPr>
            <a:r>
              <a:rPr dirty="0"/>
              <a:t>See the interactive technical flowchart rendered on the right side of this slide.</a:t>
            </a:r>
            <a:br>
              <a:rPr dirty="0"/>
            </a:br>
            <a:endParaRPr dirty="0"/>
          </a:p>
          <a:p>
            <a:pPr>
              <a:defRPr sz="1400" b="1">
                <a:solidFill>
                  <a:srgbClr val="000000"/>
                </a:solidFill>
                <a:latin typeface="Arial"/>
              </a:defRPr>
            </a:pPr>
            <a:r>
              <a:rPr dirty="0"/>
              <a:t>Mention Frontend/Backend/Tools/API connections.</a:t>
            </a:r>
          </a:p>
          <a:p>
            <a:pPr>
              <a:defRPr sz="1100">
                <a:solidFill>
                  <a:srgbClr val="505050"/>
                </a:solidFill>
                <a:latin typeface="Arial"/>
              </a:defRPr>
            </a:pPr>
            <a:r>
              <a:rPr dirty="0"/>
              <a:t>• Frontend: React / Next.js Web UI</a:t>
            </a:r>
            <a:br>
              <a:rPr dirty="0"/>
            </a:br>
            <a:r>
              <a:rPr dirty="0"/>
              <a:t>• Backend &amp; Core: Python 3.14 + SQLite</a:t>
            </a:r>
            <a:br>
              <a:rPr dirty="0"/>
            </a:br>
            <a:r>
              <a:rPr dirty="0"/>
              <a:t>• Vision: YOLOv26n on Edge GPU</a:t>
            </a:r>
            <a:br>
              <a:rPr dirty="0"/>
            </a:br>
            <a:endParaRPr dirty="0"/>
          </a:p>
          <a:p>
            <a:pPr>
              <a:defRPr sz="1400" b="1">
                <a:solidFill>
                  <a:srgbClr val="000000"/>
                </a:solidFill>
                <a:latin typeface="Arial"/>
              </a:defRPr>
            </a:pPr>
            <a:r>
              <a:rPr dirty="0"/>
              <a:t>Include Cloud/Database/ML Model (if applicable)</a:t>
            </a:r>
          </a:p>
          <a:p>
            <a:pPr>
              <a:defRPr sz="1100">
                <a:solidFill>
                  <a:srgbClr val="505050"/>
                </a:solidFill>
                <a:latin typeface="Arial"/>
              </a:defRPr>
            </a:pPr>
            <a:r>
              <a:rPr dirty="0"/>
              <a:t>• ML Model: </a:t>
            </a:r>
            <a:r>
              <a:rPr dirty="0" smtClean="0"/>
              <a:t>YOLOv26n</a:t>
            </a:r>
            <a:r>
              <a:rPr dirty="0"/>
              <a:t/>
            </a:r>
            <a:br>
              <a:rPr dirty="0"/>
            </a:br>
            <a:r>
              <a:rPr dirty="0"/>
              <a:t>• DB: Structured SQLite on edge, synced to central cloud.</a:t>
            </a:r>
            <a:br>
              <a:rPr dirty="0"/>
            </a:br>
            <a:endParaRPr dirty="0"/>
          </a:p>
        </p:txBody>
      </p:sp>
      <p:sp>
        <p:nvSpPr>
          <p:cNvPr id="8" name="Rounded Rectangle 7"/>
          <p:cNvSpPr/>
          <p:nvPr/>
        </p:nvSpPr>
        <p:spPr>
          <a:xfrm>
            <a:off x="7223760" y="8229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Camera Feed</a:t>
            </a:r>
          </a:p>
        </p:txBody>
      </p:sp>
      <p:sp>
        <p:nvSpPr>
          <p:cNvPr id="9" name="Down Arrow 8"/>
          <p:cNvSpPr/>
          <p:nvPr/>
        </p:nvSpPr>
        <p:spPr>
          <a:xfrm>
            <a:off x="7955279" y="12801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223760" y="1508760"/>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YOLO Object Detector</a:t>
            </a:r>
          </a:p>
        </p:txBody>
      </p:sp>
      <p:sp>
        <p:nvSpPr>
          <p:cNvPr id="11" name="Down Arrow 10"/>
          <p:cNvSpPr/>
          <p:nvPr/>
        </p:nvSpPr>
        <p:spPr>
          <a:xfrm>
            <a:off x="7955279" y="192024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iamond 11"/>
          <p:cNvSpPr/>
          <p:nvPr/>
        </p:nvSpPr>
        <p:spPr>
          <a:xfrm>
            <a:off x="7223760" y="2194560"/>
            <a:ext cx="1645920" cy="502920"/>
          </a:xfrm>
          <a:prstGeom prst="diamond">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b="1">
                <a:solidFill>
                  <a:srgbClr val="FFFFFF"/>
                </a:solidFill>
                <a:latin typeface="Arial"/>
              </a:defRPr>
            </a:pPr>
            <a:r>
              <a:t>Classifier</a:t>
            </a:r>
          </a:p>
        </p:txBody>
      </p:sp>
      <p:sp>
        <p:nvSpPr>
          <p:cNvPr id="13" name="Rectangle 12"/>
          <p:cNvSpPr/>
          <p:nvPr/>
        </p:nvSpPr>
        <p:spPr>
          <a:xfrm>
            <a:off x="5303520" y="2761488"/>
            <a:ext cx="192024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3035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own Arrow 14"/>
          <p:cNvSpPr/>
          <p:nvPr/>
        </p:nvSpPr>
        <p:spPr>
          <a:xfrm>
            <a:off x="52120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0" y="2788920"/>
            <a:ext cx="1645920" cy="228600"/>
          </a:xfrm>
          <a:prstGeom prst="rect">
            <a:avLst/>
          </a:prstGeom>
          <a:noFill/>
        </p:spPr>
        <p:txBody>
          <a:bodyPr wrap="none">
            <a:spAutoFit/>
          </a:bodyPr>
          <a:lstStyle/>
          <a:p>
            <a:pPr algn="l">
              <a:defRPr sz="750" i="1">
                <a:solidFill>
                  <a:srgbClr val="333333"/>
                </a:solidFill>
                <a:latin typeface="Arial"/>
              </a:defRPr>
            </a:pPr>
            <a:r>
              <a:t>Pedestrians/Bicycles</a:t>
            </a:r>
          </a:p>
        </p:txBody>
      </p:sp>
      <p:sp>
        <p:nvSpPr>
          <p:cNvPr id="17" name="Rectangle 16"/>
          <p:cNvSpPr/>
          <p:nvPr/>
        </p:nvSpPr>
        <p:spPr>
          <a:xfrm>
            <a:off x="71323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1323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own Arrow 18"/>
          <p:cNvSpPr/>
          <p:nvPr/>
        </p:nvSpPr>
        <p:spPr>
          <a:xfrm>
            <a:off x="70408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35624" y="2788920"/>
            <a:ext cx="1645920" cy="228600"/>
          </a:xfrm>
          <a:prstGeom prst="rect">
            <a:avLst/>
          </a:prstGeom>
          <a:noFill/>
        </p:spPr>
        <p:txBody>
          <a:bodyPr wrap="none">
            <a:spAutoFit/>
          </a:bodyPr>
          <a:lstStyle/>
          <a:p>
            <a:pPr algn="l">
              <a:defRPr sz="750" i="1">
                <a:solidFill>
                  <a:srgbClr val="333333"/>
                </a:solidFill>
                <a:latin typeface="Arial"/>
              </a:defRPr>
            </a:pPr>
            <a:r>
              <a:rPr dirty="0"/>
              <a:t>Emergency Vehicles</a:t>
            </a:r>
          </a:p>
        </p:txBody>
      </p:sp>
      <p:sp>
        <p:nvSpPr>
          <p:cNvPr id="21" name="Rectangle 20"/>
          <p:cNvSpPr/>
          <p:nvPr/>
        </p:nvSpPr>
        <p:spPr>
          <a:xfrm>
            <a:off x="80467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611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wn Arrow 22"/>
          <p:cNvSpPr/>
          <p:nvPr/>
        </p:nvSpPr>
        <p:spPr>
          <a:xfrm>
            <a:off x="88696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94192" y="2788920"/>
            <a:ext cx="1636776" cy="207749"/>
          </a:xfrm>
          <a:prstGeom prst="rect">
            <a:avLst/>
          </a:prstGeom>
          <a:noFill/>
        </p:spPr>
        <p:txBody>
          <a:bodyPr wrap="square">
            <a:spAutoFit/>
          </a:bodyPr>
          <a:lstStyle/>
          <a:p>
            <a:pPr algn="l">
              <a:defRPr sz="750" i="1">
                <a:solidFill>
                  <a:srgbClr val="333333"/>
                </a:solidFill>
                <a:latin typeface="Arial"/>
              </a:defRPr>
            </a:pPr>
            <a:r>
              <a:t>Vehicles</a:t>
            </a:r>
          </a:p>
        </p:txBody>
      </p:sp>
      <p:sp>
        <p:nvSpPr>
          <p:cNvPr id="25" name="Rounded Rectangle 24"/>
          <p:cNvSpPr/>
          <p:nvPr/>
        </p:nvSpPr>
        <p:spPr>
          <a:xfrm>
            <a:off x="44805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Pedestrian &amp; Lane Alerts</a:t>
            </a:r>
          </a:p>
        </p:txBody>
      </p:sp>
      <p:sp>
        <p:nvSpPr>
          <p:cNvPr id="26" name="Rounded Rectangle 25"/>
          <p:cNvSpPr/>
          <p:nvPr/>
        </p:nvSpPr>
        <p:spPr>
          <a:xfrm>
            <a:off x="6309360" y="3337560"/>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Emergency Signal Priority</a:t>
            </a:r>
          </a:p>
        </p:txBody>
      </p:sp>
      <p:sp>
        <p:nvSpPr>
          <p:cNvPr id="27" name="Rounded Rectangle 26"/>
          <p:cNvSpPr/>
          <p:nvPr/>
        </p:nvSpPr>
        <p:spPr>
          <a:xfrm>
            <a:off x="81381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Speed &amp; Incident Detector</a:t>
            </a:r>
          </a:p>
        </p:txBody>
      </p:sp>
      <p:sp>
        <p:nvSpPr>
          <p:cNvPr id="28" name="Right Arrow 27"/>
          <p:cNvSpPr/>
          <p:nvPr/>
        </p:nvSpPr>
        <p:spPr>
          <a:xfrm>
            <a:off x="9829800" y="3429000"/>
            <a:ext cx="109728" cy="182880"/>
          </a:xfrm>
          <a:prstGeom prst="right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9669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Emergency Service Dispatch</a:t>
            </a:r>
          </a:p>
        </p:txBody>
      </p:sp>
      <p:sp>
        <p:nvSpPr>
          <p:cNvPr id="30" name="Down Arrow 29"/>
          <p:cNvSpPr/>
          <p:nvPr/>
        </p:nvSpPr>
        <p:spPr>
          <a:xfrm>
            <a:off x="70408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wn Arrow 30"/>
          <p:cNvSpPr/>
          <p:nvPr/>
        </p:nvSpPr>
        <p:spPr>
          <a:xfrm>
            <a:off x="88696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wn Arrow 31"/>
          <p:cNvSpPr/>
          <p:nvPr/>
        </p:nvSpPr>
        <p:spPr>
          <a:xfrm>
            <a:off x="106984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187184" y="3794759"/>
            <a:ext cx="1719072" cy="45721"/>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3093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Adaptive Signal Manager</a:t>
            </a:r>
          </a:p>
        </p:txBody>
      </p:sp>
      <p:sp>
        <p:nvSpPr>
          <p:cNvPr id="35" name="Rounded Rectangle 34"/>
          <p:cNvSpPr/>
          <p:nvPr/>
        </p:nvSpPr>
        <p:spPr>
          <a:xfrm>
            <a:off x="81381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2D Spatial Twin Renderer</a:t>
            </a:r>
          </a:p>
        </p:txBody>
      </p:sp>
      <p:sp>
        <p:nvSpPr>
          <p:cNvPr id="36" name="Rounded Rectangle 35"/>
          <p:cNvSpPr/>
          <p:nvPr/>
        </p:nvSpPr>
        <p:spPr>
          <a:xfrm>
            <a:off x="99669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Voice Alert &amp; Database Log</a:t>
            </a:r>
          </a:p>
        </p:txBody>
      </p:sp>
      <p:sp>
        <p:nvSpPr>
          <p:cNvPr id="37" name="Down Arrow 36"/>
          <p:cNvSpPr/>
          <p:nvPr/>
        </p:nvSpPr>
        <p:spPr>
          <a:xfrm>
            <a:off x="7040880" y="43891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09360" y="466344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Traffic Light Controller</a:t>
            </a:r>
          </a:p>
        </p:txBody>
      </p:sp>
      <p:sp>
        <p:nvSpPr>
          <p:cNvPr id="39" name="Down Arrow 38"/>
          <p:cNvSpPr/>
          <p:nvPr/>
        </p:nvSpPr>
        <p:spPr>
          <a:xfrm>
            <a:off x="70408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961120" y="4343400"/>
            <a:ext cx="18288" cy="9601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own Arrow 40"/>
          <p:cNvSpPr/>
          <p:nvPr/>
        </p:nvSpPr>
        <p:spPr>
          <a:xfrm>
            <a:off x="88696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309360" y="5349240"/>
            <a:ext cx="3474720" cy="502920"/>
          </a:xfrm>
          <a:prstGeom prst="roundRect">
            <a:avLst/>
          </a:prstGeom>
          <a:solidFill>
            <a:srgbClr val="00994C"/>
          </a:solidFill>
          <a:ln w="15240">
            <a:solidFill>
              <a:srgbClr val="00994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Operator Dashboard UI with XAI &amp; CO2 stats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1828800" y="2743200"/>
            <a:ext cx="8531352" cy="1828800"/>
          </a:xfrm>
          <a:prstGeom prst="rect">
            <a:avLst/>
          </a:prstGeom>
          <a:noFill/>
        </p:spPr>
        <p:txBody>
          <a:bodyPr wrap="none">
            <a:spAutoFit/>
          </a:bodyPr>
          <a:lstStyle/>
          <a:p>
            <a:pPr algn="l">
              <a:defRPr sz="5400" b="1">
                <a:solidFill>
                  <a:srgbClr val="000000"/>
                </a:solidFill>
                <a:latin typeface="Aria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309</Words>
  <Application>Microsoft Office PowerPoint</Application>
  <PresentationFormat>Custom</PresentationFormat>
  <Paragraphs>81</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Welcome</dc:creator>
  <cp:keywords/>
  <dc:description>generated using python-pptx</dc:description>
  <cp:lastModifiedBy>Welcome</cp:lastModifiedBy>
  <cp:revision>2</cp:revision>
  <dcterms:created xsi:type="dcterms:W3CDTF">2013-01-27T09:14:16Z</dcterms:created>
  <dcterms:modified xsi:type="dcterms:W3CDTF">2026-07-26T14:28:37Z</dcterms:modified>
  <cp:category/>
</cp:coreProperties>
</file>