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none">
            <a:spAutoFit/>
          </a:bodyPr>
          <a:lstStyle/>
          <a:p>
            <a:pPr>
              <a:defRPr sz="4400" b="1">
                <a:solidFill>
                  <a:srgbClr val="000000"/>
                </a:solidFill>
                <a:latin typeface="Arial"/>
              </a:defRPr>
            </a:pPr>
            <a:r>
              <a:t>DECODE SIH 2026</a:t>
            </a:r>
          </a:p>
        </p:txBody>
      </p:sp>
      <p:sp>
        <p:nvSpPr>
          <p:cNvPr id="7" name="TextBox 6"/>
          <p:cNvSpPr txBox="1"/>
          <p:nvPr/>
        </p:nvSpPr>
        <p:spPr>
          <a:xfrm>
            <a:off x="731520" y="2743200"/>
            <a:ext cx="8686800" cy="1371600"/>
          </a:xfrm>
          <a:prstGeom prst="rect">
            <a:avLst/>
          </a:prstGeom>
          <a:noFill/>
        </p:spPr>
        <p:txBody>
          <a:bodyPr wrap="square">
            <a:spAutoFit/>
          </a:bodyPr>
          <a:lstStyle/>
          <a:p>
            <a:pPr>
              <a:defRPr sz="3600" b="1">
                <a:solidFill>
                  <a:srgbClr val="000000"/>
                </a:solidFill>
                <a:latin typeface="Arial"/>
              </a:defRPr>
            </a:pPr>
            <a:r>
              <a:t>TraffixAI: AI-Powered Smart City Traffic Digital Twin with Emergency Response and Congestion Intelligence</a:t>
            </a:r>
          </a:p>
        </p:txBody>
      </p:sp>
      <p:sp>
        <p:nvSpPr>
          <p:cNvPr id="8" name="TextBox 7"/>
          <p:cNvSpPr txBox="1"/>
          <p:nvPr/>
        </p:nvSpPr>
        <p:spPr>
          <a:xfrm>
            <a:off x="731520" y="5303520"/>
            <a:ext cx="8686800" cy="914400"/>
          </a:xfrm>
          <a:prstGeom prst="rect">
            <a:avLst/>
          </a:prstGeom>
          <a:noFill/>
        </p:spPr>
        <p:txBody>
          <a:bodyPr wrap="none">
            <a:spAutoFit/>
          </a:bodyPr>
          <a:lstStyle/>
          <a:p>
            <a:pPr>
              <a:defRPr sz="1600" b="1">
                <a:solidFill>
                  <a:srgbClr val="000000"/>
                </a:solidFill>
                <a:latin typeface="Arial"/>
              </a:defRPr>
            </a:pPr>
            <a:r>
              <a:t>PRESENTED BY: Team CipherSquad (Code: KE5VND) | Adamas University, Kolkata | SIH 2026 Bharat Nirman PS1</a:t>
            </a:r>
            <a:br/>
            <a:r>
              <a:t>PRESENTED BY: Team CipherSquad (Code: KE5VND) | Adamas University, Kolkata | SIH 2026 Bharat Nirman PS1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TEAM MEMBERS</a:t>
            </a:r>
          </a:p>
        </p:txBody>
      </p:sp>
      <p:sp>
        <p:nvSpPr>
          <p:cNvPr id="7" name="TextBox 6"/>
          <p:cNvSpPr txBox="1"/>
          <p:nvPr/>
        </p:nvSpPr>
        <p:spPr>
          <a:xfrm>
            <a:off x="731520" y="1645920"/>
            <a:ext cx="7772400" cy="4572000"/>
          </a:xfrm>
          <a:prstGeom prst="rect">
            <a:avLst/>
          </a:prstGeom>
          <a:noFill/>
        </p:spPr>
        <p:txBody>
          <a:bodyPr wrap="square">
            <a:spAutoFit/>
          </a:bodyPr>
          <a:lstStyle/>
          <a:p>
            <a:pPr>
              <a:defRPr sz="1800" b="1">
                <a:solidFill>
                  <a:srgbClr val="000000"/>
                </a:solidFill>
                <a:latin typeface="Arial"/>
              </a:defRPr>
            </a:pPr>
            <a:r>
              <a:t>* Deep Shekhar Halder (Team Leader)
  Role: AI Core Lead — YOLOv26n, SURTRAC signal control, ByteTrack, emergency dispatch system
* Sayan Pramanik
  Role: Backend and Signal AI — MQTT telemetry, RL agent, traffic database, V2X communication
* Soumyojit Banerjee
  Role: Digital Twin and Maps — MapLibre 3D GIS twin, React Command Center UI, dashboard
* Suman Mondal
  Role: Data and ML Pipeline — XGBoost forecasting, STGCN Graph Neural Network, SUMO simulation
* Kausturi Chakraborty
  Role: UI/UX and Visualization — React dashboard, CO2 analytics UI, alert panels, camera feed
* Rituraj Saha
  Role: Hardware and IoT — Raspberry Pi GPIO, Arduino serial, 24GHz radar, ANPR module
</a:t>
            </a:r>
          </a:p>
          <a:p>
            <a:pPr>
              <a:defRPr sz="1300">
                <a:solidFill>
                  <a:srgbClr val="505050"/>
                </a:solidFill>
                <a:latin typeface="Arial"/>
              </a:defRPr>
            </a:pPr>
            <a:r>
              <a:t/>
            </a:r>
            <a:br/>
          </a:p>
          <a:p>
            <a:pPr>
              <a:defRPr sz="1800" b="1">
                <a:solidFill>
                  <a:srgbClr val="000000"/>
                </a:solidFill>
                <a:latin typeface="Arial"/>
              </a:defRPr>
            </a:pPr>
            <a:r>
              <a:t/>
            </a:r>
          </a:p>
          <a:p>
            <a:pPr>
              <a:defRPr sz="1300">
                <a:solidFill>
                  <a:srgbClr val="505050"/>
                </a:solidFill>
                <a:latin typeface="Arial"/>
              </a:defRPr>
            </a:pPr>
            <a:r>
              <a:t/>
            </a:r>
            <a:br/>
          </a:p>
          <a:p>
            <a:pPr>
              <a:defRPr sz="1800" b="1">
                <a:solidFill>
                  <a:srgbClr val="000000"/>
                </a:solidFill>
                <a:latin typeface="Arial"/>
              </a:defRPr>
            </a:pPr>
            <a:r>
              <a:t/>
            </a:r>
          </a:p>
          <a:p>
            <a:pPr>
              <a:defRPr sz="1300">
                <a:solidFill>
                  <a:srgbClr val="505050"/>
                </a:solidFill>
                <a:latin typeface="Arial"/>
              </a:defRPr>
            </a:pPr>
            <a:r>
              <a:t/>
            </a:r>
            <a:b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PROBLEM STATEMENT</a:t>
            </a:r>
          </a:p>
        </p:txBody>
      </p:sp>
      <p:sp>
        <p:nvSpPr>
          <p:cNvPr id="7" name="TextBox 6"/>
          <p:cNvSpPr txBox="1"/>
          <p:nvPr/>
        </p:nvSpPr>
        <p:spPr>
          <a:xfrm>
            <a:off x="731520" y="1463040"/>
            <a:ext cx="7772400" cy="4754880"/>
          </a:xfrm>
          <a:prstGeom prst="rect">
            <a:avLst/>
          </a:prstGeom>
          <a:noFill/>
        </p:spPr>
        <p:txBody>
          <a:bodyPr wrap="square">
            <a:spAutoFit/>
          </a:bodyPr>
          <a:lstStyle/>
          <a:p>
            <a:pPr>
              <a:defRPr sz="1600" b="1">
                <a:solidFill>
                  <a:srgbClr val="000000"/>
                </a:solidFill>
                <a:latin typeface="Arial"/>
              </a:defRPr>
            </a:pPr>
            <a:r>
              <a:t>Problem Title (Pick from OSCode's Decode SIH 2026 list - link)</a:t>
            </a:r>
          </a:p>
          <a:p>
            <a:pPr>
              <a:defRPr sz="1200">
                <a:solidFill>
                  <a:srgbClr val="505050"/>
                </a:solidFill>
                <a:latin typeface="Arial"/>
              </a:defRPr>
            </a:pPr>
            <a:r>
              <a:t>PS1: AI Traffic Digital Twin for smart traffic optimization and congestion prediction (BHARAT NIRMAN Track)</a:t>
            </a:r>
            <a:br/>
          </a:p>
          <a:p>
            <a:pPr>
              <a:defRPr sz="1600" b="1">
                <a:solidFill>
                  <a:srgbClr val="000000"/>
                </a:solidFill>
                <a:latin typeface="Arial"/>
              </a:defRPr>
            </a:pPr>
            <a:r>
              <a:t>What does this Problem Aim to Solve?</a:t>
            </a:r>
          </a:p>
          <a:p>
            <a:pPr>
              <a:defRPr sz="1200">
                <a:solidFill>
                  <a:srgbClr val="505050"/>
                </a:solidFill>
                <a:latin typeface="Arial"/>
              </a:defRPr>
            </a:pPr>
            <a:r>
              <a:t>Urban traffic congestion in Indian cities causes massive economic losses, increased carbon emissions, and critical emergency response delays. Current traffic control systems are static (run on fixed timers) or rely on manual intervention. They cannot adapt to real-time traffic density variations, track lane-specific traffic volume, or automatically clear paths for emergency vehicles.</a:t>
            </a:r>
            <a:br/>
          </a:p>
          <a:p>
            <a:pPr>
              <a:defRPr sz="1600" b="1">
                <a:solidFill>
                  <a:srgbClr val="000000"/>
                </a:solidFill>
                <a:latin typeface="Arial"/>
              </a:defRPr>
            </a:pPr>
            <a:r>
              <a:t>Why did your team choose this?</a:t>
            </a:r>
          </a:p>
          <a:p>
            <a:pPr>
              <a:defRPr sz="1200">
                <a:solidFill>
                  <a:srgbClr val="505050"/>
                </a:solidFill>
                <a:latin typeface="Arial"/>
              </a:defRPr>
            </a:pPr>
            <a:r>
              <a:t>Traffic congestion directly impacts daily life, emergency response times, and fuel wastage. We chose this because we have built a working core of an edge-optimized AI traffic management tool. By developing an active 2D Spatial Digital Twin, we can translate raw video feeds into digital spatial coordinates to optimize traffic flow dynamically and save lives.</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REAL-WORLD PROBLEM ALIGNMENT</a:t>
            </a:r>
          </a:p>
        </p:txBody>
      </p:sp>
      <p:sp>
        <p:nvSpPr>
          <p:cNvPr id="7" name="TextBox 6"/>
          <p:cNvSpPr txBox="1"/>
          <p:nvPr/>
        </p:nvSpPr>
        <p:spPr>
          <a:xfrm>
            <a:off x="731520" y="1371600"/>
            <a:ext cx="7772400" cy="5029200"/>
          </a:xfrm>
          <a:prstGeom prst="rect">
            <a:avLst/>
          </a:prstGeom>
          <a:noFill/>
        </p:spPr>
        <p:txBody>
          <a:bodyPr wrap="square">
            <a:spAutoFit/>
          </a:bodyPr>
          <a:lstStyle/>
          <a:p>
            <a:r>
              <a:t>Who faces this issue?</a:t>
            </a:r>
          </a:p>
          <a:p>
            <a:r>
              <a:t>Daily commuters &amp; transport services, emergency services (ambulances), smart city traffic administrations, and connected autonomous vehicles (CAVs).</a:t>
            </a:r>
          </a:p>
          <a:p/>
          <a:p>
            <a:r>
              <a:t>What's the current gap in the system?</a:t>
            </a:r>
          </a:p>
          <a:p>
            <a:r>
              <a:t>Lack of lane-level traffic density awareness, static traffic light timers, no V2X (Vehicle-to-Everything) 5G communication, no 24GHz Doppler Radar fusion, no multi-scenario micro-simulation evaluation, no ANPR digital ticket issuance, and no acoustic siren preemption.</a:t>
            </a:r>
          </a:p>
          <a:p/>
          <a:p>
            <a:r>
              <a:t>How does your proposed solution fill that gap practically?</a:t>
            </a:r>
          </a:p>
          <a:p>
            <a:r>
              <a:t>Fills gaps by combining YOLOv26n vision with 24GHz Doppler Radar, C-V2X 5G GLOSA speed advisories (45 km/h), PyTorch Deep Q-Network (DQN) RL + CMU SURTRAC signal optimization, ANPR E-Challan digital ticketing, and a 9-Scenario Parallel Micro-Simulation Grid with Gold Ribbon Winner selection.</a:t>
            </a:r>
          </a:p>
          <a:p/>
          <a:p>
            <a:r>
              <a:t>If possible, mention if it connects to any existing schemes.</a:t>
            </a:r>
          </a:p>
          <a:p>
            <a:r>
              <a:t>Connects directly with the Smart Cities Mission (intelligent transport systems), Digital India (edge AI computing), and National Automotive Board V2X Connected Vehicle Initiatives.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PROPOSED SOLUTION</a:t>
            </a:r>
          </a:p>
        </p:txBody>
      </p:sp>
      <p:sp>
        <p:nvSpPr>
          <p:cNvPr id="7" name="TextBox 6"/>
          <p:cNvSpPr txBox="1"/>
          <p:nvPr/>
        </p:nvSpPr>
        <p:spPr>
          <a:xfrm>
            <a:off x="731520" y="1371600"/>
            <a:ext cx="7772400" cy="5029200"/>
          </a:xfrm>
          <a:prstGeom prst="rect">
            <a:avLst/>
          </a:prstGeom>
          <a:noFill/>
        </p:spPr>
        <p:txBody>
          <a:bodyPr wrap="square">
            <a:spAutoFit/>
          </a:bodyPr>
          <a:lstStyle/>
          <a:p>
            <a:r>
              <a:t>What are you Building?</a:t>
            </a:r>
          </a:p>
          <a:p>
            <a:r>
              <a:t>TraffixAI is an advanced Smart Mobility AI Traffic Digital Twin &amp; C-V2X 5G Communication Hub. Using an edge-optimized YOLOv26n model fused with 24GHz Doppler Radar and 3D Homography Bird's Eye View (BEV) coordinates ([BEV: +1.4m, 12.8m]), the system tracks vehicles and pedestrians lane-by-lane. Features an Iron Man AR HUD, CMU SURTRAC + PyTorch DQN RL adaptive signal logic, acoustic siren preemption, ANPR E-Challans, V2X GLOSA speed advisories, and real-time CO2 carbon offset tracking.</a:t>
            </a:r>
          </a:p>
          <a:p/>
          <a:p>
            <a:r>
              <a:t>What are the Key System Innovations?</a:t>
            </a:r>
          </a:p>
          <a:p>
            <a:r>
              <a:t>1. Iron Man AR HUD &amp; BEV 3D Homography Digital Twin ([⊕] reticles, 24GHz Radar sweeps, LAONROAD tables).</a:t>
            </a:r>
          </a:p>
          <a:p>
            <a:r>
              <a:t>2. V2X 5G Smart Mobility: C-V2X 5G / DSRC SPaT &amp; GLOSA speed advisory (45 km/h) for autonomous vehicles.</a:t>
            </a:r>
          </a:p>
          <a:p>
            <a:r>
              <a:t>3. CMU SURTRAC + PyTorch DQN Reinforcement Learning: EDF arrival scheduling &amp; MA2C fingerprinting.</a:t>
            </a:r>
          </a:p>
          <a:p>
            <a:r>
              <a:t>4. 3x3 Parallel 9-Scenario Micro-Simulation Grid: Gold Winner selection (🏆 SIMULATION 05 WINNER, -68.2% delay).</a:t>
            </a:r>
          </a:p>
          <a:p>
            <a:r>
              <a:t>5. XGBoost Multi-Horizon Forecasting Engine: +15m / +30m / +60m volume prediction.</a:t>
            </a:r>
          </a:p>
          <a:p>
            <a:r>
              <a:t>6. 4-Road Quad-Camera Subsystem: North, South, East, West multi-intersection approach tracking.</a:t>
            </a:r>
          </a:p>
          <a:p>
            <a:r>
              <a:t>7. ANPR License Plate OCR &amp; Automated E-Challan Issuance System.</a:t>
            </a:r>
          </a:p>
          <a:p>
            <a:r>
              <a:t>8. Hardware Microcontroller Integration: Arduino Uno serial relay + Raspberry Pi OLED &amp; MAX7219 VMS LED Matrix.</a:t>
            </a:r>
          </a:p>
          <a:p/>
          <a:p>
            <a:r>
              <a:t>What makes it different or innovative?</a:t>
            </a:r>
          </a:p>
          <a:p>
            <a:r>
              <a:t>Bridges 9 major research literature gaps identified across published academic research papers (Damadam et al., Chan Basha et al., Xuanning Zhang). Combines vision, radar, V2X 5G, PyTorch DQN RL, 9-Scenario parallel physics simulation, and physical hardware controllers into a single thread-safe edge deployment.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TECH STACK &amp; ARCHITECTURE</a:t>
            </a:r>
          </a:p>
        </p:txBody>
      </p:sp>
      <p:sp>
        <p:nvSpPr>
          <p:cNvPr id="7" name="TextBox 6"/>
          <p:cNvSpPr txBox="1"/>
          <p:nvPr/>
        </p:nvSpPr>
        <p:spPr>
          <a:xfrm>
            <a:off x="731520" y="1371600"/>
            <a:ext cx="7772400" cy="5029200"/>
          </a:xfrm>
          <a:prstGeom prst="rect">
            <a:avLst/>
          </a:prstGeom>
          <a:noFill/>
        </p:spPr>
        <p:txBody>
          <a:bodyPr wrap="square">
            <a:spAutoFit/>
          </a:bodyPr>
          <a:lstStyle/>
          <a:p>
            <a:r>
              <a:t>Tech Stack</a:t>
            </a:r>
          </a:p>
          <a:p>
            <a:r>
              <a:t>Next.js/React (Dashboard), Python 3.14 (Backend Core), YOLOv26n (Computer Vision), PyTorch (DQN RL), XGBoost Regressor (Multi-horizon forecasting), SQLite (Logging DB), C-V2X 5G Telemetry Engine, Arduino PySerial, RPi.GPIO (Hardware).</a:t>
            </a:r>
          </a:p>
          <a:p/>
          <a:p>
            <a:r>
              <a:t>APIs/Libraries</a:t>
            </a:r>
          </a:p>
          <a:p>
            <a:r>
              <a:t>cv2, numpy, ultralytics, torch, xgboost, sklearn, flask, pyttsx3, serial, RPi.GPIO, luma.oled, luma.led_matrix, winsound.</a:t>
            </a:r>
          </a:p>
          <a:p/>
          <a:p>
            <a:r>
              <a:t>Deployment Plan</a:t>
            </a:r>
          </a:p>
          <a:p>
            <a:r>
              <a:t>Edge Node: Containerized Docker running on NVIDIA Jetson Orin Nano or Raspberry Pi 5 connected to Arduino Uno relay traffic controllers, OLED screens, and MAX7219 VMS LED matrices. Cloud Dashboard: Central command React Web UI connecting via REST API &amp; WebSockets.</a:t>
            </a:r>
          </a:p>
          <a:p/>
          <a:p>
            <a:r>
              <a:t>High-level Block Diagram OR Architecture</a:t>
            </a:r>
          </a:p>
          <a:p>
            <a:r>
              <a:t>Camera &amp; Radar Feed ➔ YOLO + BEV Homography ➔ V2X 5G Telemetry &amp; C-V2X GLOSA ➔ PyTorch DQN RL + SURTRAC Signal Optimizer ➔ 9-Scenario Parallel Micro-Simulation ➔ Hardware Relay Controller &amp; Operator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731520" y="548640"/>
            <a:ext cx="8686800" cy="914400"/>
          </a:xfrm>
          <a:prstGeom prst="rect">
            <a:avLst/>
          </a:prstGeom>
          <a:noFill/>
        </p:spPr>
        <p:txBody>
          <a:bodyPr wrap="square">
            <a:spAutoFit/>
          </a:bodyPr>
          <a:lstStyle/>
          <a:p>
            <a:pPr>
              <a:defRPr sz="3600" b="1">
                <a:solidFill>
                  <a:srgbClr val="000000"/>
                </a:solidFill>
                <a:latin typeface="Arial"/>
              </a:defRPr>
            </a:pPr>
            <a:r>
              <a:t>ARCHITECTURE DIAGRAM</a:t>
            </a:r>
          </a:p>
        </p:txBody>
      </p:sp>
      <p:sp>
        <p:nvSpPr>
          <p:cNvPr id="7" name="TextBox 6"/>
          <p:cNvSpPr txBox="1"/>
          <p:nvPr/>
        </p:nvSpPr>
        <p:spPr>
          <a:xfrm>
            <a:off x="731520" y="1371600"/>
            <a:ext cx="3840480" cy="5029200"/>
          </a:xfrm>
          <a:prstGeom prst="rect">
            <a:avLst/>
          </a:prstGeom>
          <a:noFill/>
        </p:spPr>
        <p:txBody>
          <a:bodyPr wrap="square">
            <a:spAutoFit/>
          </a:bodyPr>
          <a:lstStyle/>
          <a:p>
            <a:pPr>
              <a:defRPr sz="1400" b="1">
                <a:solidFill>
                  <a:srgbClr val="000000"/>
                </a:solidFill>
                <a:latin typeface="Arial"/>
              </a:defRPr>
            </a:pPr>
            <a:r>
              <a:t>Show the Technical Flow using a simple block diagram.</a:t>
            </a:r>
          </a:p>
          <a:p>
            <a:pPr>
              <a:defRPr sz="1100">
                <a:solidFill>
                  <a:srgbClr val="505050"/>
                </a:solidFill>
                <a:latin typeface="Arial"/>
              </a:defRPr>
            </a:pPr>
            <a:r>
              <a:t>See the interactive technical flowchart rendered on the right side of this slide.</a:t>
            </a:r>
            <a:br/>
          </a:p>
          <a:p>
            <a:pPr>
              <a:defRPr sz="1400" b="1">
                <a:solidFill>
                  <a:srgbClr val="000000"/>
                </a:solidFill>
                <a:latin typeface="Arial"/>
              </a:defRPr>
            </a:pPr>
            <a:r>
              <a:t>Mention Frontend/Backend/Tools/API connections.</a:t>
            </a:r>
          </a:p>
          <a:p>
            <a:pPr>
              <a:defRPr sz="1100">
                <a:solidFill>
                  <a:srgbClr val="505050"/>
                </a:solidFill>
                <a:latin typeface="Arial"/>
              </a:defRPr>
            </a:pPr>
            <a:r>
              <a:t>• Frontend: React / Next.js Web UI</a:t>
            </a:r>
            <a:br/>
            <a:r>
              <a:t>• Backend &amp; Core: Python 3.14 + SQLite</a:t>
            </a:r>
            <a:br/>
            <a:r>
              <a:t>• Vision: YOLOv26n on Edge GPU</a:t>
            </a:r>
            <a:br/>
          </a:p>
          <a:p>
            <a:pPr>
              <a:defRPr sz="1400" b="1">
                <a:solidFill>
                  <a:srgbClr val="000000"/>
                </a:solidFill>
                <a:latin typeface="Arial"/>
              </a:defRPr>
            </a:pPr>
            <a:r>
              <a:t>Include Cloud/Database/ML Model (if applicable)</a:t>
            </a:r>
          </a:p>
          <a:p>
            <a:pPr>
              <a:defRPr sz="1100">
                <a:solidFill>
                  <a:srgbClr val="505050"/>
                </a:solidFill>
                <a:latin typeface="Arial"/>
              </a:defRPr>
            </a:pPr>
            <a:r>
              <a:t>• ML Model: YOLOv26n (5.29 MB)</a:t>
            </a:r>
            <a:br/>
            <a:r>
              <a:t>• DB: Structured SQLite on edge, synced to central cloud.</a:t>
            </a:r>
            <a:br/>
          </a:p>
        </p:txBody>
      </p:sp>
      <p:sp>
        <p:nvSpPr>
          <p:cNvPr id="8" name="Rounded Rectangle 7"/>
          <p:cNvSpPr/>
          <p:nvPr/>
        </p:nvSpPr>
        <p:spPr>
          <a:xfrm>
            <a:off x="7223760" y="118872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Camera Feed</a:t>
            </a:r>
          </a:p>
        </p:txBody>
      </p:sp>
      <p:sp>
        <p:nvSpPr>
          <p:cNvPr id="9" name="Down Arrow 8"/>
          <p:cNvSpPr/>
          <p:nvPr/>
        </p:nvSpPr>
        <p:spPr>
          <a:xfrm>
            <a:off x="7955279" y="160020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223760" y="182880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YOLO Object Detector</a:t>
            </a:r>
          </a:p>
        </p:txBody>
      </p:sp>
      <p:sp>
        <p:nvSpPr>
          <p:cNvPr id="11" name="Down Arrow 10"/>
          <p:cNvSpPr/>
          <p:nvPr/>
        </p:nvSpPr>
        <p:spPr>
          <a:xfrm>
            <a:off x="7955279" y="224028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amond 11"/>
          <p:cNvSpPr/>
          <p:nvPr/>
        </p:nvSpPr>
        <p:spPr>
          <a:xfrm>
            <a:off x="7223760" y="2514600"/>
            <a:ext cx="1645920" cy="502920"/>
          </a:xfrm>
          <a:prstGeom prst="diamond">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00" b="1">
                <a:solidFill>
                  <a:srgbClr val="FFFFFF"/>
                </a:solidFill>
                <a:latin typeface="Arial"/>
              </a:defRPr>
            </a:pPr>
            <a:r>
              <a:t>Classifier</a:t>
            </a:r>
          </a:p>
        </p:txBody>
      </p:sp>
      <p:sp>
        <p:nvSpPr>
          <p:cNvPr id="13" name="Rectangle 12"/>
          <p:cNvSpPr/>
          <p:nvPr/>
        </p:nvSpPr>
        <p:spPr>
          <a:xfrm>
            <a:off x="5303520" y="2761488"/>
            <a:ext cx="192024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3035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52120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788920"/>
            <a:ext cx="1645920" cy="228600"/>
          </a:xfrm>
          <a:prstGeom prst="rect">
            <a:avLst/>
          </a:prstGeom>
          <a:noFill/>
        </p:spPr>
        <p:txBody>
          <a:bodyPr wrap="none">
            <a:spAutoFit/>
          </a:bodyPr>
          <a:lstStyle/>
          <a:p>
            <a:pPr algn="l">
              <a:defRPr sz="750" i="1">
                <a:solidFill>
                  <a:srgbClr val="333333"/>
                </a:solidFill>
                <a:latin typeface="Arial"/>
              </a:defRPr>
            </a:pPr>
            <a:r>
              <a:t>Pedestrians/Bicycles</a:t>
            </a:r>
          </a:p>
        </p:txBody>
      </p:sp>
      <p:sp>
        <p:nvSpPr>
          <p:cNvPr id="17" name="Rectangle 16"/>
          <p:cNvSpPr/>
          <p:nvPr/>
        </p:nvSpPr>
        <p:spPr>
          <a:xfrm>
            <a:off x="71323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wn Arrow 18"/>
          <p:cNvSpPr/>
          <p:nvPr/>
        </p:nvSpPr>
        <p:spPr>
          <a:xfrm>
            <a:off x="70408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788920"/>
            <a:ext cx="1645920" cy="228600"/>
          </a:xfrm>
          <a:prstGeom prst="rect">
            <a:avLst/>
          </a:prstGeom>
          <a:noFill/>
        </p:spPr>
        <p:txBody>
          <a:bodyPr wrap="none">
            <a:spAutoFit/>
          </a:bodyPr>
          <a:lstStyle/>
          <a:p>
            <a:pPr algn="l">
              <a:defRPr sz="750" i="1">
                <a:solidFill>
                  <a:srgbClr val="333333"/>
                </a:solidFill>
                <a:latin typeface="Arial"/>
              </a:defRPr>
            </a:pPr>
            <a:r>
              <a:t>Emergency Vehicles</a:t>
            </a:r>
          </a:p>
        </p:txBody>
      </p:sp>
      <p:sp>
        <p:nvSpPr>
          <p:cNvPr id="21" name="Rectangle 20"/>
          <p:cNvSpPr/>
          <p:nvPr/>
        </p:nvSpPr>
        <p:spPr>
          <a:xfrm>
            <a:off x="8046720" y="2761488"/>
            <a:ext cx="9144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61120" y="2761488"/>
            <a:ext cx="18288" cy="347472"/>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wn Arrow 22"/>
          <p:cNvSpPr/>
          <p:nvPr/>
        </p:nvSpPr>
        <p:spPr>
          <a:xfrm>
            <a:off x="8869680" y="3108960"/>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2788920"/>
            <a:ext cx="1645920" cy="228600"/>
          </a:xfrm>
          <a:prstGeom prst="rect">
            <a:avLst/>
          </a:prstGeom>
          <a:noFill/>
        </p:spPr>
        <p:txBody>
          <a:bodyPr wrap="none">
            <a:spAutoFit/>
          </a:bodyPr>
          <a:lstStyle/>
          <a:p>
            <a:pPr algn="l">
              <a:defRPr sz="750" i="1">
                <a:solidFill>
                  <a:srgbClr val="333333"/>
                </a:solidFill>
                <a:latin typeface="Arial"/>
              </a:defRPr>
            </a:pPr>
            <a:r>
              <a:t>Vehicles</a:t>
            </a:r>
          </a:p>
        </p:txBody>
      </p:sp>
      <p:sp>
        <p:nvSpPr>
          <p:cNvPr id="25" name="Rounded Rectangle 24"/>
          <p:cNvSpPr/>
          <p:nvPr/>
        </p:nvSpPr>
        <p:spPr>
          <a:xfrm>
            <a:off x="44805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Pedestrian &amp; Lane Alerts</a:t>
            </a:r>
          </a:p>
        </p:txBody>
      </p:sp>
      <p:sp>
        <p:nvSpPr>
          <p:cNvPr id="26" name="Rounded Rectangle 25"/>
          <p:cNvSpPr/>
          <p:nvPr/>
        </p:nvSpPr>
        <p:spPr>
          <a:xfrm>
            <a:off x="6309360" y="3337560"/>
            <a:ext cx="1645920" cy="365760"/>
          </a:xfrm>
          <a:prstGeom prst="roundRect">
            <a:avLst/>
          </a:prstGeom>
          <a:solidFill>
            <a:srgbClr val="FF6600"/>
          </a:solidFill>
          <a:ln w="15240">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Emergency Signal Priority</a:t>
            </a:r>
          </a:p>
        </p:txBody>
      </p:sp>
      <p:sp>
        <p:nvSpPr>
          <p:cNvPr id="27" name="Rounded Rectangle 26"/>
          <p:cNvSpPr/>
          <p:nvPr/>
        </p:nvSpPr>
        <p:spPr>
          <a:xfrm>
            <a:off x="81381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Speed &amp; Incident Detector</a:t>
            </a:r>
          </a:p>
        </p:txBody>
      </p:sp>
      <p:sp>
        <p:nvSpPr>
          <p:cNvPr id="28" name="Right Arrow 27"/>
          <p:cNvSpPr/>
          <p:nvPr/>
        </p:nvSpPr>
        <p:spPr>
          <a:xfrm>
            <a:off x="9829800" y="3429000"/>
            <a:ext cx="109728" cy="182880"/>
          </a:xfrm>
          <a:prstGeom prst="right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966960" y="333756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Emergency Service Dispatch</a:t>
            </a:r>
          </a:p>
        </p:txBody>
      </p:sp>
      <p:sp>
        <p:nvSpPr>
          <p:cNvPr id="30" name="Down Arrow 29"/>
          <p:cNvSpPr/>
          <p:nvPr/>
        </p:nvSpPr>
        <p:spPr>
          <a:xfrm>
            <a:off x="70408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Down Arrow 30"/>
          <p:cNvSpPr/>
          <p:nvPr/>
        </p:nvSpPr>
        <p:spPr>
          <a:xfrm>
            <a:off x="88696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10698480" y="3749039"/>
            <a:ext cx="182880" cy="18288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32320" y="3794760"/>
            <a:ext cx="1828800" cy="18288"/>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093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Adaptive Signal Manager</a:t>
            </a:r>
          </a:p>
        </p:txBody>
      </p:sp>
      <p:sp>
        <p:nvSpPr>
          <p:cNvPr id="35" name="Rounded Rectangle 34"/>
          <p:cNvSpPr/>
          <p:nvPr/>
        </p:nvSpPr>
        <p:spPr>
          <a:xfrm>
            <a:off x="81381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2D Spatial Twin Renderer</a:t>
            </a:r>
          </a:p>
        </p:txBody>
      </p:sp>
      <p:sp>
        <p:nvSpPr>
          <p:cNvPr id="36" name="Rounded Rectangle 35"/>
          <p:cNvSpPr/>
          <p:nvPr/>
        </p:nvSpPr>
        <p:spPr>
          <a:xfrm>
            <a:off x="9966960" y="3977639"/>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Voice Alert &amp; Database Log</a:t>
            </a:r>
          </a:p>
        </p:txBody>
      </p:sp>
      <p:sp>
        <p:nvSpPr>
          <p:cNvPr id="37" name="Down Arrow 36"/>
          <p:cNvSpPr/>
          <p:nvPr/>
        </p:nvSpPr>
        <p:spPr>
          <a:xfrm>
            <a:off x="7040880" y="43891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09360" y="4663440"/>
            <a:ext cx="1645920" cy="365760"/>
          </a:xfrm>
          <a:prstGeom prst="roundRect">
            <a:avLst/>
          </a:prstGeom>
          <a:solidFill>
            <a:srgbClr val="003366"/>
          </a:solidFill>
          <a:ln w="15240">
            <a:solidFill>
              <a:srgbClr val="00A2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Traffic Light Controller</a:t>
            </a:r>
          </a:p>
        </p:txBody>
      </p:sp>
      <p:sp>
        <p:nvSpPr>
          <p:cNvPr id="39" name="Down Arrow 38"/>
          <p:cNvSpPr/>
          <p:nvPr/>
        </p:nvSpPr>
        <p:spPr>
          <a:xfrm>
            <a:off x="70408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961120" y="4343400"/>
            <a:ext cx="18288" cy="96012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wn Arrow 40"/>
          <p:cNvSpPr/>
          <p:nvPr/>
        </p:nvSpPr>
        <p:spPr>
          <a:xfrm>
            <a:off x="8869680" y="5074920"/>
            <a:ext cx="182880" cy="228600"/>
          </a:xfrm>
          <a:prstGeom prst="downArrow">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09360" y="5349240"/>
            <a:ext cx="3474720" cy="502920"/>
          </a:xfrm>
          <a:prstGeom prst="roundRect">
            <a:avLst/>
          </a:prstGeom>
          <a:solidFill>
            <a:srgbClr val="00994C"/>
          </a:solidFill>
          <a:ln w="15240">
            <a:solidFill>
              <a:srgbClr val="0099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850" b="1">
                <a:solidFill>
                  <a:srgbClr val="FFFFFF"/>
                </a:solidFill>
                <a:latin typeface="Arial"/>
              </a:defRPr>
            </a:pPr>
            <a:r>
              <a:t>Operator Dashboard UI with XAI &amp; CO2 stats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772400" y="2011680"/>
            <a:ext cx="5486400" cy="5486400"/>
          </a:xfrm>
          <a:prstGeom prst="ellipse">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6089904" cy="137160"/>
          </a:xfrm>
          <a:prstGeom prst="rect">
            <a:avLst/>
          </a:prstGeom>
          <a:solidFill>
            <a:srgbClr val="00A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89904" y="6720840"/>
            <a:ext cx="6099048" cy="13716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82880"/>
            <a:ext cx="2286000" cy="731520"/>
          </a:xfrm>
          <a:prstGeom prst="rect">
            <a:avLst/>
          </a:prstGeom>
          <a:noFill/>
        </p:spPr>
        <p:txBody>
          <a:bodyPr wrap="none">
            <a:spAutoFit/>
          </a:bodyPr>
          <a:lstStyle/>
          <a:p>
            <a:pPr algn="ctr">
              <a:defRPr sz="1800" b="1">
                <a:solidFill>
                  <a:srgbClr val="000000"/>
                </a:solidFill>
                <a:latin typeface="Arial"/>
              </a:defRPr>
            </a:pPr>
            <a:r>
              <a:t>OSCode</a:t>
            </a:r>
          </a:p>
          <a:p>
            <a:pPr algn="ctr">
              <a:defRPr sz="1000">
                <a:solidFill>
                  <a:srgbClr val="00A2E8"/>
                </a:solidFill>
                <a:latin typeface="Arial"/>
              </a:defRPr>
            </a:pPr>
            <a:r>
              <a:t>by communityX</a:t>
            </a:r>
          </a:p>
        </p:txBody>
      </p:sp>
      <p:sp>
        <p:nvSpPr>
          <p:cNvPr id="6" name="TextBox 5"/>
          <p:cNvSpPr txBox="1"/>
          <p:nvPr/>
        </p:nvSpPr>
        <p:spPr>
          <a:xfrm>
            <a:off x="1828800" y="2743200"/>
            <a:ext cx="8531352" cy="1828800"/>
          </a:xfrm>
          <a:prstGeom prst="rect">
            <a:avLst/>
          </a:prstGeom>
          <a:noFill/>
        </p:spPr>
        <p:txBody>
          <a:bodyPr wrap="none">
            <a:spAutoFit/>
          </a:bodyPr>
          <a:lstStyle/>
          <a:p>
            <a:pPr algn="l">
              <a:defRPr sz="5400" b="1">
                <a:solidFill>
                  <a:srgbClr val="000000"/>
                </a:solidFill>
                <a:latin typeface="Aria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