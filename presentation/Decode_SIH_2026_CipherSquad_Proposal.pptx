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0152" cy="1828800"/>
          </a:xfrm>
          <a:prstGeom prst="rect">
            <a:avLst/>
          </a:prstGeom>
          <a:noFill/>
        </p:spPr>
        <p:txBody>
          <a:bodyPr wrap="square">
            <a:spAutoFit/>
          </a:bodyPr>
          <a:lstStyle/>
          <a:p>
            <a:pPr>
              <a:defRPr sz="4000" b="1">
                <a:solidFill>
                  <a:srgbClr val="FFFFFF"/>
                </a:solidFill>
                <a:latin typeface="Arial"/>
              </a:defRPr>
            </a:pPr>
            <a:r>
              <a:t>TraffixAI: Multi-Lane Real-Time AI Traffic Digital Twin</a:t>
            </a:r>
          </a:p>
        </p:txBody>
      </p:sp>
      <p:sp>
        <p:nvSpPr>
          <p:cNvPr id="4" name="TextBox 3"/>
          <p:cNvSpPr txBox="1"/>
          <p:nvPr/>
        </p:nvSpPr>
        <p:spPr>
          <a:xfrm>
            <a:off x="914400" y="3291840"/>
            <a:ext cx="10360152" cy="1828800"/>
          </a:xfrm>
          <a:prstGeom prst="rect">
            <a:avLst/>
          </a:prstGeom>
          <a:noFill/>
        </p:spPr>
        <p:txBody>
          <a:bodyPr wrap="square">
            <a:spAutoFit/>
          </a:bodyPr>
          <a:lstStyle/>
          <a:p>
            <a:pPr>
              <a:defRPr sz="1800">
                <a:solidFill>
                  <a:srgbClr val="F5F7FA"/>
                </a:solidFill>
              </a:defRPr>
            </a:pPr>
            <a:r>
              <a:t>Smart traffic optimization, predictive congestion forecasting, and emergency priority override.</a:t>
            </a:r>
          </a:p>
          <a:p>
            <a:br/>
            <a:pPr>
              <a:defRPr sz="1600" b="1">
                <a:solidFill>
                  <a:srgbClr val="FF6600"/>
                </a:solidFill>
              </a:defRPr>
            </a:pPr>
            <a:r>
              <a:t>Track: Bharat Nirman (AI for Smart Cities, Mobility &amp; Infrastructure) </a:t>
            </a:r>
            <a:br/>
            <a:r>
              <a:t>Problem Statement: PS1 - AI Traffic Digital Twin</a:t>
            </a:r>
          </a:p>
          <a:p>
            <a:pPr>
              <a:defRPr sz="1600" b="1">
                <a:solidFill>
                  <a:srgbClr val="FFFFFF"/>
                </a:solidFill>
              </a:defRPr>
            </a:pPr>
            <a:r>
              <a:t>Presented by: Team CipherSquad (Team Code: KE5VND)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88952"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83680"/>
            <a:ext cx="11274552" cy="274320"/>
          </a:xfrm>
          <a:prstGeom prst="rect">
            <a:avLst/>
          </a:prstGeom>
          <a:noFill/>
        </p:spPr>
        <p:txBody>
          <a:bodyPr wrap="none">
            <a:spAutoFit/>
          </a:bodyPr>
          <a:lstStyle/>
          <a:p>
            <a:pPr>
              <a:defRPr sz="1000" b="1">
                <a:solidFill>
                  <a:srgbClr val="FFFFFF"/>
                </a:solidFill>
              </a:defRPr>
            </a:pPr>
            <a:r>
              <a:t>DECODE SIH 2026 | Bharat Nirman Track | PS1: AI Traffic Digital Twin</a:t>
            </a:r>
          </a:p>
        </p:txBody>
      </p:sp>
      <p:sp>
        <p:nvSpPr>
          <p:cNvPr id="5" name="TextBox 4"/>
          <p:cNvSpPr txBox="1"/>
          <p:nvPr/>
        </p:nvSpPr>
        <p:spPr>
          <a:xfrm>
            <a:off x="9144000" y="6583680"/>
            <a:ext cx="2587752" cy="274320"/>
          </a:xfrm>
          <a:prstGeom prst="rect">
            <a:avLst/>
          </a:prstGeom>
          <a:noFill/>
        </p:spPr>
        <p:txBody>
          <a:bodyPr wrap="none">
            <a:spAutoFit/>
          </a:bodyPr>
          <a:lstStyle/>
          <a:p>
            <a:pPr algn="ctr">
              <a:defRPr sz="1000" b="1">
                <a:solidFill>
                  <a:srgbClr val="FFFFFF"/>
                </a:solidFill>
              </a:defRPr>
            </a:pPr>
            <a:r>
              <a:t>CipherSquad [Code: KE5VND]</a:t>
            </a:r>
          </a:p>
        </p:txBody>
      </p:sp>
      <p:sp>
        <p:nvSpPr>
          <p:cNvPr id="6" name="TextBox 5"/>
          <p:cNvSpPr txBox="1"/>
          <p:nvPr/>
        </p:nvSpPr>
        <p:spPr>
          <a:xfrm>
            <a:off x="457200" y="274320"/>
            <a:ext cx="11274552" cy="731520"/>
          </a:xfrm>
          <a:prstGeom prst="rect">
            <a:avLst/>
          </a:prstGeom>
          <a:noFill/>
        </p:spPr>
        <p:txBody>
          <a:bodyPr wrap="none">
            <a:spAutoFit/>
          </a:bodyPr>
          <a:lstStyle/>
          <a:p>
            <a:pPr>
              <a:defRPr sz="2800" b="1">
                <a:solidFill>
                  <a:srgbClr val="003366"/>
                </a:solidFill>
                <a:latin typeface="Arial"/>
              </a:defRPr>
            </a:pPr>
            <a:r>
              <a:t>TEAM MEMBERS &amp; ROLES</a:t>
            </a:r>
          </a:p>
        </p:txBody>
      </p:sp>
      <p:sp>
        <p:nvSpPr>
          <p:cNvPr id="7" name="Rectangle 6"/>
          <p:cNvSpPr/>
          <p:nvPr/>
        </p:nvSpPr>
        <p:spPr>
          <a:xfrm>
            <a:off x="457200" y="1005840"/>
            <a:ext cx="36576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3383280" cy="475488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3200400" cy="4572000"/>
          </a:xfrm>
          <a:prstGeom prst="rect">
            <a:avLst/>
          </a:prstGeom>
          <a:noFill/>
        </p:spPr>
        <p:txBody>
          <a:bodyPr wrap="square">
            <a:spAutoFit/>
          </a:bodyPr>
          <a:lstStyle/>
          <a:p>
            <a:pPr>
              <a:defRPr sz="2000" b="1">
                <a:solidFill>
                  <a:srgbClr val="003366"/>
                </a:solidFill>
              </a:defRPr>
            </a:pPr>
            <a:r>
              <a:t>Deep shekhar Halder</a:t>
            </a:r>
          </a:p>
          <a:p>
            <a:pPr>
              <a:defRPr sz="1300" b="1">
                <a:solidFill>
                  <a:srgbClr val="FF6600"/>
                </a:solidFill>
              </a:defRPr>
            </a:pPr>
            <a:r>
              <a:t>Team Leader / Lead AI Developer</a:t>
            </a:r>
          </a:p>
          <a:p>
            <a:pPr>
              <a:defRPr sz="1100">
                <a:solidFill>
                  <a:srgbClr val="323232"/>
                </a:solidFill>
              </a:defRPr>
            </a:pPr>
            <a:r>
              <a:t>Email: deephalder209@gmail.com</a:t>
            </a:r>
            <a:br/>
          </a:p>
          <a:p>
            <a:pPr>
              <a:defRPr sz="1200" b="1">
                <a:solidFill>
                  <a:srgbClr val="003366"/>
                </a:solidFill>
              </a:defRPr>
            </a:pPr>
            <a:r>
              <a:t>Key Contributions:</a:t>
            </a:r>
          </a:p>
          <a:p>
            <a:pPr>
              <a:defRPr sz="1100">
                <a:solidFill>
                  <a:srgbClr val="323232"/>
                </a:solidFill>
              </a:defRPr>
            </a:pPr>
            <a:r>
              <a:t>• YOLO object detection logic integration</a:t>
            </a:r>
          </a:p>
          <a:p>
            <a:pPr>
              <a:defRPr sz="1100">
                <a:solidFill>
                  <a:srgbClr val="323232"/>
                </a:solidFill>
              </a:defRPr>
            </a:pPr>
            <a:r>
              <a:t>• Centroid Speed tracker algorithms</a:t>
            </a:r>
          </a:p>
          <a:p>
            <a:pPr>
              <a:defRPr sz="1100">
                <a:solidFill>
                  <a:srgbClr val="323232"/>
                </a:solidFill>
              </a:defRPr>
            </a:pPr>
            <a:r>
              <a:t>• Incident rules validation</a:t>
            </a:r>
          </a:p>
        </p:txBody>
      </p:sp>
      <p:sp>
        <p:nvSpPr>
          <p:cNvPr id="10" name="Rectangle 9"/>
          <p:cNvSpPr/>
          <p:nvPr/>
        </p:nvSpPr>
        <p:spPr>
          <a:xfrm>
            <a:off x="4297680" y="1371600"/>
            <a:ext cx="3383280" cy="475488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463040"/>
            <a:ext cx="3200400" cy="4572000"/>
          </a:xfrm>
          <a:prstGeom prst="rect">
            <a:avLst/>
          </a:prstGeom>
          <a:noFill/>
        </p:spPr>
        <p:txBody>
          <a:bodyPr wrap="square">
            <a:spAutoFit/>
          </a:bodyPr>
          <a:lstStyle/>
          <a:p>
            <a:pPr>
              <a:defRPr sz="2000" b="1">
                <a:solidFill>
                  <a:srgbClr val="003366"/>
                </a:solidFill>
              </a:defRPr>
            </a:pPr>
            <a:r>
              <a:t>Sayan Pramanik</a:t>
            </a:r>
          </a:p>
          <a:p>
            <a:pPr>
              <a:defRPr sz="1300" b="1">
                <a:solidFill>
                  <a:srgbClr val="FF6600"/>
                </a:solidFill>
              </a:defRPr>
            </a:pPr>
            <a:r>
              <a:t>Frontend &amp; Rendering Developer</a:t>
            </a:r>
          </a:p>
          <a:p>
            <a:pPr>
              <a:defRPr sz="1100">
                <a:solidFill>
                  <a:srgbClr val="323232"/>
                </a:solidFill>
              </a:defRPr>
            </a:pPr>
            <a:r>
              <a:t>Email: pramaniksayak145@gmail.com</a:t>
            </a:r>
            <a:br/>
          </a:p>
          <a:p>
            <a:pPr>
              <a:defRPr sz="1200" b="1">
                <a:solidFill>
                  <a:srgbClr val="003366"/>
                </a:solidFill>
              </a:defRPr>
            </a:pPr>
            <a:r>
              <a:t>Key Contributions:</a:t>
            </a:r>
          </a:p>
          <a:p>
            <a:pPr>
              <a:defRPr sz="1100">
                <a:solidFill>
                  <a:srgbClr val="323232"/>
                </a:solidFill>
              </a:defRPr>
            </a:pPr>
            <a:r>
              <a:t>• 2D Spatial Digital Twin dashboard overlay</a:t>
            </a:r>
          </a:p>
          <a:p>
            <a:pPr>
              <a:defRPr sz="1100">
                <a:solidFill>
                  <a:srgbClr val="323232"/>
                </a:solidFill>
              </a:defRPr>
            </a:pPr>
            <a:r>
              <a:t>• Performance metrics rendering (FPS)</a:t>
            </a:r>
          </a:p>
          <a:p>
            <a:pPr>
              <a:defRPr sz="1100">
                <a:solidFill>
                  <a:srgbClr val="323232"/>
                </a:solidFill>
              </a:defRPr>
            </a:pPr>
            <a:r>
              <a:t>• Visual safety indicators</a:t>
            </a:r>
          </a:p>
        </p:txBody>
      </p:sp>
      <p:sp>
        <p:nvSpPr>
          <p:cNvPr id="12" name="Rectangle 11"/>
          <p:cNvSpPr/>
          <p:nvPr/>
        </p:nvSpPr>
        <p:spPr>
          <a:xfrm>
            <a:off x="8138160" y="1371600"/>
            <a:ext cx="3383280" cy="475488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463040"/>
            <a:ext cx="3200400" cy="4572000"/>
          </a:xfrm>
          <a:prstGeom prst="rect">
            <a:avLst/>
          </a:prstGeom>
          <a:noFill/>
        </p:spPr>
        <p:txBody>
          <a:bodyPr wrap="square">
            <a:spAutoFit/>
          </a:bodyPr>
          <a:lstStyle/>
          <a:p>
            <a:pPr>
              <a:defRPr sz="2000" b="1">
                <a:solidFill>
                  <a:srgbClr val="003366"/>
                </a:solidFill>
              </a:defRPr>
            </a:pPr>
            <a:r>
              <a:t>Ashfaque Ahamed Khan</a:t>
            </a:r>
          </a:p>
          <a:p>
            <a:pPr>
              <a:defRPr sz="1300" b="1">
                <a:solidFill>
                  <a:srgbClr val="FF6600"/>
                </a:solidFill>
              </a:defRPr>
            </a:pPr>
            <a:r>
              <a:t>Backend &amp; Database Developer</a:t>
            </a:r>
          </a:p>
          <a:p>
            <a:pPr>
              <a:defRPr sz="1100">
                <a:solidFill>
                  <a:srgbClr val="323232"/>
                </a:solidFill>
              </a:defRPr>
            </a:pPr>
            <a:r>
              <a:t>Email: ashfaqueahamedkhan591@gmail.com</a:t>
            </a:r>
            <a:br/>
          </a:p>
          <a:p>
            <a:pPr>
              <a:defRPr sz="1200" b="1">
                <a:solidFill>
                  <a:srgbClr val="003366"/>
                </a:solidFill>
              </a:defRPr>
            </a:pPr>
            <a:r>
              <a:t>Key Contributions:</a:t>
            </a:r>
          </a:p>
          <a:p>
            <a:pPr>
              <a:defRPr sz="1100">
                <a:solidFill>
                  <a:srgbClr val="323232"/>
                </a:solidFill>
              </a:defRPr>
            </a:pPr>
            <a:r>
              <a:t>• Lane Signaling state controller</a:t>
            </a:r>
          </a:p>
          <a:p>
            <a:pPr>
              <a:defRPr sz="1100">
                <a:solidFill>
                  <a:srgbClr val="323232"/>
                </a:solidFill>
              </a:defRPr>
            </a:pPr>
            <a:r>
              <a:t>• SQLite Database structured logging</a:t>
            </a:r>
          </a:p>
          <a:p>
            <a:pPr>
              <a:defRPr sz="1100">
                <a:solidFill>
                  <a:srgbClr val="323232"/>
                </a:solidFill>
              </a:defRPr>
            </a:pPr>
            <a:r>
              <a:t>• Emergency Service mock dispatch handlers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88952"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83680"/>
            <a:ext cx="11274552" cy="274320"/>
          </a:xfrm>
          <a:prstGeom prst="rect">
            <a:avLst/>
          </a:prstGeom>
          <a:noFill/>
        </p:spPr>
        <p:txBody>
          <a:bodyPr wrap="none">
            <a:spAutoFit/>
          </a:bodyPr>
          <a:lstStyle/>
          <a:p>
            <a:pPr>
              <a:defRPr sz="1000" b="1">
                <a:solidFill>
                  <a:srgbClr val="FFFFFF"/>
                </a:solidFill>
              </a:defRPr>
            </a:pPr>
            <a:r>
              <a:t>DECODE SIH 2026 | Bharat Nirman Track | PS1: AI Traffic Digital Twin</a:t>
            </a:r>
          </a:p>
        </p:txBody>
      </p:sp>
      <p:sp>
        <p:nvSpPr>
          <p:cNvPr id="5" name="TextBox 4"/>
          <p:cNvSpPr txBox="1"/>
          <p:nvPr/>
        </p:nvSpPr>
        <p:spPr>
          <a:xfrm>
            <a:off x="9144000" y="6583680"/>
            <a:ext cx="2587752" cy="274320"/>
          </a:xfrm>
          <a:prstGeom prst="rect">
            <a:avLst/>
          </a:prstGeom>
          <a:noFill/>
        </p:spPr>
        <p:txBody>
          <a:bodyPr wrap="none">
            <a:spAutoFit/>
          </a:bodyPr>
          <a:lstStyle/>
          <a:p>
            <a:pPr algn="ctr">
              <a:defRPr sz="1000" b="1">
                <a:solidFill>
                  <a:srgbClr val="FFFFFF"/>
                </a:solidFill>
              </a:defRPr>
            </a:pPr>
            <a:r>
              <a:t>CipherSquad [Code: KE5VND]</a:t>
            </a:r>
          </a:p>
        </p:txBody>
      </p:sp>
      <p:sp>
        <p:nvSpPr>
          <p:cNvPr id="6" name="TextBox 5"/>
          <p:cNvSpPr txBox="1"/>
          <p:nvPr/>
        </p:nvSpPr>
        <p:spPr>
          <a:xfrm>
            <a:off x="457200" y="274320"/>
            <a:ext cx="11274552" cy="731520"/>
          </a:xfrm>
          <a:prstGeom prst="rect">
            <a:avLst/>
          </a:prstGeom>
          <a:noFill/>
        </p:spPr>
        <p:txBody>
          <a:bodyPr wrap="none">
            <a:spAutoFit/>
          </a:bodyPr>
          <a:lstStyle/>
          <a:p>
            <a:pPr>
              <a:defRPr sz="2800" b="1">
                <a:solidFill>
                  <a:srgbClr val="003366"/>
                </a:solidFill>
                <a:latin typeface="Arial"/>
              </a:defRPr>
            </a:pPr>
            <a:r>
              <a:t>PROBLEM STATEMENT</a:t>
            </a:r>
          </a:p>
        </p:txBody>
      </p:sp>
      <p:sp>
        <p:nvSpPr>
          <p:cNvPr id="7" name="Rectangle 6"/>
          <p:cNvSpPr/>
          <p:nvPr/>
        </p:nvSpPr>
        <p:spPr>
          <a:xfrm>
            <a:off x="457200" y="1005840"/>
            <a:ext cx="36576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71600"/>
            <a:ext cx="5486400" cy="4572000"/>
          </a:xfrm>
          <a:prstGeom prst="rect">
            <a:avLst/>
          </a:prstGeom>
          <a:noFill/>
        </p:spPr>
        <p:txBody>
          <a:bodyPr wrap="square">
            <a:spAutoFit/>
          </a:bodyPr>
          <a:lstStyle/>
          <a:p>
            <a:pPr>
              <a:defRPr sz="1800" b="1">
                <a:solidFill>
                  <a:srgbClr val="003366"/>
                </a:solidFill>
              </a:defRPr>
            </a:pPr>
            <a:r>
              <a:t>Problem Title: PS1 - AI Traffic Digital Twin for Congestion Prediction</a:t>
            </a:r>
          </a:p>
          <a:p>
            <a:br/>
            <a:pPr>
              <a:defRPr sz="1600" b="1">
                <a:solidFill>
                  <a:srgbClr val="FF6600"/>
                </a:solidFill>
              </a:defRPr>
            </a:pPr>
            <a:r>
              <a:t>What does this Problem Aim to Solve?</a:t>
            </a:r>
            <a:br/>
          </a:p>
          <a:p>
            <a:pPr>
              <a:defRPr sz="1400">
                <a:solidFill>
                  <a:srgbClr val="323232"/>
                </a:solidFill>
              </a:defRPr>
            </a:pPr>
            <a:r>
              <a:t>Rapid urbanization has led to massive traffic congestion, causing fuel wastage, economic bottlenecks, and dangerous delays for emergency vehicles in Indian cities. Standard pre-timed traffic lights cannot scale to dynamic flow conditions, and manual lane-level queue adjustments are impossible at scale.</a:t>
            </a:r>
          </a:p>
        </p:txBody>
      </p:sp>
      <p:sp>
        <p:nvSpPr>
          <p:cNvPr id="9" name="TextBox 8"/>
          <p:cNvSpPr txBox="1"/>
          <p:nvPr/>
        </p:nvSpPr>
        <p:spPr>
          <a:xfrm>
            <a:off x="6400800" y="1371600"/>
            <a:ext cx="5303520" cy="4572000"/>
          </a:xfrm>
          <a:prstGeom prst="rect">
            <a:avLst/>
          </a:prstGeom>
          <a:noFill/>
        </p:spPr>
        <p:txBody>
          <a:bodyPr wrap="square">
            <a:spAutoFit/>
          </a:bodyPr>
          <a:lstStyle/>
          <a:p>
            <a:pPr>
              <a:defRPr sz="1600" b="1">
                <a:solidFill>
                  <a:srgbClr val="00994C"/>
                </a:solidFill>
              </a:defRPr>
            </a:pPr>
            <a:r>
              <a:t>Why did our team choose this?</a:t>
            </a:r>
            <a:br/>
          </a:p>
          <a:p>
            <a:pPr>
              <a:defRPr sz="1400">
                <a:solidFill>
                  <a:srgbClr val="323232"/>
                </a:solidFill>
              </a:defRPr>
            </a:pPr>
            <a:r>
              <a:t>We chose this statement to build an active, real-time closed-loop optimizer. Rather than creating a passive camera monitoring screen, we developed a system that uses AI computer vision to track density, predict incoming gridlock trends, dynamically control traffic signals, and automatically override lanes to let emergency responders pass safely. Our solution translates to saved lives, lower emissions, and optimized commutes.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88952"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83680"/>
            <a:ext cx="11274552" cy="274320"/>
          </a:xfrm>
          <a:prstGeom prst="rect">
            <a:avLst/>
          </a:prstGeom>
          <a:noFill/>
        </p:spPr>
        <p:txBody>
          <a:bodyPr wrap="none">
            <a:spAutoFit/>
          </a:bodyPr>
          <a:lstStyle/>
          <a:p>
            <a:pPr>
              <a:defRPr sz="1000" b="1">
                <a:solidFill>
                  <a:srgbClr val="FFFFFF"/>
                </a:solidFill>
              </a:defRPr>
            </a:pPr>
            <a:r>
              <a:t>DECODE SIH 2026 | Bharat Nirman Track | PS1: AI Traffic Digital Twin</a:t>
            </a:r>
          </a:p>
        </p:txBody>
      </p:sp>
      <p:sp>
        <p:nvSpPr>
          <p:cNvPr id="5" name="TextBox 4"/>
          <p:cNvSpPr txBox="1"/>
          <p:nvPr/>
        </p:nvSpPr>
        <p:spPr>
          <a:xfrm>
            <a:off x="9144000" y="6583680"/>
            <a:ext cx="2587752" cy="274320"/>
          </a:xfrm>
          <a:prstGeom prst="rect">
            <a:avLst/>
          </a:prstGeom>
          <a:noFill/>
        </p:spPr>
        <p:txBody>
          <a:bodyPr wrap="none">
            <a:spAutoFit/>
          </a:bodyPr>
          <a:lstStyle/>
          <a:p>
            <a:pPr algn="ctr">
              <a:defRPr sz="1000" b="1">
                <a:solidFill>
                  <a:srgbClr val="FFFFFF"/>
                </a:solidFill>
              </a:defRPr>
            </a:pPr>
            <a:r>
              <a:t>CipherSquad [Code: KE5VND]</a:t>
            </a:r>
          </a:p>
        </p:txBody>
      </p:sp>
      <p:sp>
        <p:nvSpPr>
          <p:cNvPr id="6" name="TextBox 5"/>
          <p:cNvSpPr txBox="1"/>
          <p:nvPr/>
        </p:nvSpPr>
        <p:spPr>
          <a:xfrm>
            <a:off x="457200" y="274320"/>
            <a:ext cx="11274552" cy="731520"/>
          </a:xfrm>
          <a:prstGeom prst="rect">
            <a:avLst/>
          </a:prstGeom>
          <a:noFill/>
        </p:spPr>
        <p:txBody>
          <a:bodyPr wrap="none">
            <a:spAutoFit/>
          </a:bodyPr>
          <a:lstStyle/>
          <a:p>
            <a:pPr>
              <a:defRPr sz="2800" b="1">
                <a:solidFill>
                  <a:srgbClr val="003366"/>
                </a:solidFill>
                <a:latin typeface="Arial"/>
              </a:defRPr>
            </a:pPr>
            <a:r>
              <a:t>REAL-WORLD ALIGNMENT &amp; IMPACT</a:t>
            </a:r>
          </a:p>
        </p:txBody>
      </p:sp>
      <p:sp>
        <p:nvSpPr>
          <p:cNvPr id="7" name="Rectangle 6"/>
          <p:cNvSpPr/>
          <p:nvPr/>
        </p:nvSpPr>
        <p:spPr>
          <a:xfrm>
            <a:off x="457200" y="1005840"/>
            <a:ext cx="36576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71600"/>
            <a:ext cx="11274552" cy="4754880"/>
          </a:xfrm>
          <a:prstGeom prst="rect">
            <a:avLst/>
          </a:prstGeom>
          <a:noFill/>
        </p:spPr>
        <p:txBody>
          <a:bodyPr wrap="square">
            <a:spAutoFit/>
          </a:bodyPr>
          <a:lstStyle/>
          <a:p/>
        </p:txBody>
      </p:sp>
      <p:sp>
        <p:nvSpPr>
          <p:cNvPr id="9" name="Rectangle 8"/>
          <p:cNvSpPr/>
          <p:nvPr/>
        </p:nvSpPr>
        <p:spPr>
          <a:xfrm>
            <a:off x="457200" y="1371600"/>
            <a:ext cx="5486400" cy="2194560"/>
          </a:xfrm>
          <a:prstGeom prst="rect">
            <a:avLst/>
          </a:prstGeom>
          <a:solidFill>
            <a:srgbClr val="FFFFFF"/>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63040"/>
            <a:ext cx="5303520" cy="2011680"/>
          </a:xfrm>
          <a:prstGeom prst="rect">
            <a:avLst/>
          </a:prstGeom>
          <a:noFill/>
        </p:spPr>
        <p:txBody>
          <a:bodyPr wrap="square">
            <a:spAutoFit/>
          </a:bodyPr>
          <a:lstStyle/>
          <a:p>
            <a:pPr>
              <a:defRPr sz="1500" b="1">
                <a:solidFill>
                  <a:srgbClr val="003366"/>
                </a:solidFill>
              </a:defRPr>
            </a:pPr>
            <a:r>
              <a:t>👥 Who faces this issue?</a:t>
            </a:r>
          </a:p>
          <a:p>
            <a:pPr>
              <a:defRPr sz="1100">
                <a:solidFill>
                  <a:srgbClr val="323232"/>
                </a:solidFill>
              </a:defRPr>
            </a:pPr>
            <a:r>
              <a:t>• Commuters &amp; public transport systems stuck in daily gridlocks.</a:t>
            </a:r>
            <a:br/>
            <a:r>
              <a:t>• Emergency ambulances &amp; police services facing critical blockages.</a:t>
            </a:r>
            <a:br/>
            <a:r>
              <a:t>• Smart City administrations without access to structured spatial traffic data.</a:t>
            </a:r>
          </a:p>
        </p:txBody>
      </p:sp>
      <p:sp>
        <p:nvSpPr>
          <p:cNvPr id="11" name="Rectangle 10"/>
          <p:cNvSpPr/>
          <p:nvPr/>
        </p:nvSpPr>
        <p:spPr>
          <a:xfrm>
            <a:off x="6217920" y="1371600"/>
            <a:ext cx="5486400" cy="2194560"/>
          </a:xfrm>
          <a:prstGeom prst="rect">
            <a:avLst/>
          </a:prstGeom>
          <a:solidFill>
            <a:srgbClr val="FFFFFF"/>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63040"/>
            <a:ext cx="5303520" cy="2011680"/>
          </a:xfrm>
          <a:prstGeom prst="rect">
            <a:avLst/>
          </a:prstGeom>
          <a:noFill/>
        </p:spPr>
        <p:txBody>
          <a:bodyPr wrap="square">
            <a:spAutoFit/>
          </a:bodyPr>
          <a:lstStyle/>
          <a:p>
            <a:pPr>
              <a:defRPr sz="1500" b="1">
                <a:solidFill>
                  <a:srgbClr val="003366"/>
                </a:solidFill>
              </a:defRPr>
            </a:pPr>
            <a:r>
              <a:t>❌ What's the current gap in the system?</a:t>
            </a:r>
          </a:p>
          <a:p>
            <a:pPr>
              <a:defRPr sz="1100">
                <a:solidFill>
                  <a:srgbClr val="323232"/>
                </a:solidFill>
              </a:defRPr>
            </a:pPr>
            <a:r>
              <a:t>• No Lane-Level Awareness: Traffic lights treat the entire road width as one queue.</a:t>
            </a:r>
            <a:br/>
            <a:r>
              <a:t>• Blind to emergency responders: No automatic lane clearing priority.</a:t>
            </a:r>
            <a:br/>
            <a:r>
              <a:t>• No Predictive Action: Pre-timed signals don't prevent congestion before it spawns.</a:t>
            </a:r>
          </a:p>
        </p:txBody>
      </p:sp>
      <p:sp>
        <p:nvSpPr>
          <p:cNvPr id="13" name="Rectangle 12"/>
          <p:cNvSpPr/>
          <p:nvPr/>
        </p:nvSpPr>
        <p:spPr>
          <a:xfrm>
            <a:off x="457200" y="3840480"/>
            <a:ext cx="5486400" cy="2194560"/>
          </a:xfrm>
          <a:prstGeom prst="rect">
            <a:avLst/>
          </a:prstGeom>
          <a:solidFill>
            <a:srgbClr val="FFFFFF"/>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931920"/>
            <a:ext cx="5303520" cy="2011680"/>
          </a:xfrm>
          <a:prstGeom prst="rect">
            <a:avLst/>
          </a:prstGeom>
          <a:noFill/>
        </p:spPr>
        <p:txBody>
          <a:bodyPr wrap="square">
            <a:spAutoFit/>
          </a:bodyPr>
          <a:lstStyle/>
          <a:p>
            <a:pPr>
              <a:defRPr sz="1500" b="1">
                <a:solidFill>
                  <a:srgbClr val="003366"/>
                </a:solidFill>
              </a:defRPr>
            </a:pPr>
            <a:r>
              <a:t>⚡ How does TraffixAI resolve it practically?</a:t>
            </a:r>
          </a:p>
          <a:p>
            <a:pPr>
              <a:defRPr sz="1100">
                <a:solidFill>
                  <a:srgbClr val="323232"/>
                </a:solidFill>
              </a:defRPr>
            </a:pPr>
            <a:r>
              <a:t>• Computer Vision Grid: Measures lane vehicle weights and shifts signals dynamically.</a:t>
            </a:r>
            <a:br/>
            <a:r>
              <a:t>• Instant override: Reserves lane passage automatically for emergency vehicles.</a:t>
            </a:r>
            <a:br/>
            <a:r>
              <a:t>• Closed-Loop feedback: Uses linear regression forecasts to proactively route vehicles.</a:t>
            </a:r>
          </a:p>
        </p:txBody>
      </p:sp>
      <p:sp>
        <p:nvSpPr>
          <p:cNvPr id="15" name="Rectangle 14"/>
          <p:cNvSpPr/>
          <p:nvPr/>
        </p:nvSpPr>
        <p:spPr>
          <a:xfrm>
            <a:off x="6217920" y="3840480"/>
            <a:ext cx="5486400" cy="2194560"/>
          </a:xfrm>
          <a:prstGeom prst="rect">
            <a:avLst/>
          </a:prstGeom>
          <a:solidFill>
            <a:srgbClr val="FFFFFF"/>
          </a:solidFill>
          <a:ln>
            <a:solidFill>
              <a:srgbClr val="009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3931920"/>
            <a:ext cx="5303520" cy="2011680"/>
          </a:xfrm>
          <a:prstGeom prst="rect">
            <a:avLst/>
          </a:prstGeom>
          <a:noFill/>
        </p:spPr>
        <p:txBody>
          <a:bodyPr wrap="square">
            <a:spAutoFit/>
          </a:bodyPr>
          <a:lstStyle/>
          <a:p>
            <a:pPr>
              <a:defRPr sz="1500" b="1">
                <a:solidFill>
                  <a:srgbClr val="00994C"/>
                </a:solidFill>
              </a:defRPr>
            </a:pPr>
            <a:r>
              <a:t>🇮🇳 Connection to National Schemes</a:t>
            </a:r>
          </a:p>
          <a:p>
            <a:pPr>
              <a:defRPr sz="1100">
                <a:solidFill>
                  <a:srgbClr val="323232"/>
                </a:solidFill>
              </a:defRPr>
            </a:pPr>
            <a:r>
              <a:t>• Smart Cities Mission: Developing intelligent transportation systems (ITS).</a:t>
            </a:r>
            <a:br/>
            <a:r>
              <a:t>• Digital India: Deploying local edge computing algorithms on low-power IoT controllers.</a:t>
            </a:r>
            <a:br/>
            <a:r>
              <a:t>• National Road Safety Policy: Reducing collision risks and logging speeding violations.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88952"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83680"/>
            <a:ext cx="11274552" cy="274320"/>
          </a:xfrm>
          <a:prstGeom prst="rect">
            <a:avLst/>
          </a:prstGeom>
          <a:noFill/>
        </p:spPr>
        <p:txBody>
          <a:bodyPr wrap="none">
            <a:spAutoFit/>
          </a:bodyPr>
          <a:lstStyle/>
          <a:p>
            <a:pPr>
              <a:defRPr sz="1000" b="1">
                <a:solidFill>
                  <a:srgbClr val="FFFFFF"/>
                </a:solidFill>
              </a:defRPr>
            </a:pPr>
            <a:r>
              <a:t>DECODE SIH 2026 | Bharat Nirman Track | PS1: AI Traffic Digital Twin</a:t>
            </a:r>
          </a:p>
        </p:txBody>
      </p:sp>
      <p:sp>
        <p:nvSpPr>
          <p:cNvPr id="5" name="TextBox 4"/>
          <p:cNvSpPr txBox="1"/>
          <p:nvPr/>
        </p:nvSpPr>
        <p:spPr>
          <a:xfrm>
            <a:off x="9144000" y="6583680"/>
            <a:ext cx="2587752" cy="274320"/>
          </a:xfrm>
          <a:prstGeom prst="rect">
            <a:avLst/>
          </a:prstGeom>
          <a:noFill/>
        </p:spPr>
        <p:txBody>
          <a:bodyPr wrap="none">
            <a:spAutoFit/>
          </a:bodyPr>
          <a:lstStyle/>
          <a:p>
            <a:pPr algn="ctr">
              <a:defRPr sz="1000" b="1">
                <a:solidFill>
                  <a:srgbClr val="FFFFFF"/>
                </a:solidFill>
              </a:defRPr>
            </a:pPr>
            <a:r>
              <a:t>CipherSquad [Code: KE5VND]</a:t>
            </a:r>
          </a:p>
        </p:txBody>
      </p:sp>
      <p:sp>
        <p:nvSpPr>
          <p:cNvPr id="6" name="TextBox 5"/>
          <p:cNvSpPr txBox="1"/>
          <p:nvPr/>
        </p:nvSpPr>
        <p:spPr>
          <a:xfrm>
            <a:off x="457200" y="274320"/>
            <a:ext cx="11274552" cy="731520"/>
          </a:xfrm>
          <a:prstGeom prst="rect">
            <a:avLst/>
          </a:prstGeom>
          <a:noFill/>
        </p:spPr>
        <p:txBody>
          <a:bodyPr wrap="none">
            <a:spAutoFit/>
          </a:bodyPr>
          <a:lstStyle/>
          <a:p>
            <a:pPr>
              <a:defRPr sz="2800" b="1">
                <a:solidFill>
                  <a:srgbClr val="003366"/>
                </a:solidFill>
                <a:latin typeface="Arial"/>
              </a:defRPr>
            </a:pPr>
            <a:r>
              <a:t>PROPOSED SOLUTION &amp; KEY INNOVATIONS</a:t>
            </a:r>
          </a:p>
        </p:txBody>
      </p:sp>
      <p:sp>
        <p:nvSpPr>
          <p:cNvPr id="7" name="Rectangle 6"/>
          <p:cNvSpPr/>
          <p:nvPr/>
        </p:nvSpPr>
        <p:spPr>
          <a:xfrm>
            <a:off x="457200" y="1005840"/>
            <a:ext cx="36576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80160"/>
            <a:ext cx="11274552" cy="1371600"/>
          </a:xfrm>
          <a:prstGeom prst="rect">
            <a:avLst/>
          </a:prstGeom>
          <a:noFill/>
        </p:spPr>
        <p:txBody>
          <a:bodyPr wrap="square">
            <a:spAutoFit/>
          </a:bodyPr>
          <a:lstStyle/>
          <a:p>
            <a:pPr>
              <a:defRPr sz="1600" b="1">
                <a:solidFill>
                  <a:srgbClr val="003366"/>
                </a:solidFill>
              </a:defRPr>
            </a:pPr>
            <a:r>
              <a:t>What is TraffixAI?</a:t>
            </a:r>
          </a:p>
          <a:p>
            <a:pPr>
              <a:defRPr sz="1300">
                <a:solidFill>
                  <a:srgbClr val="323232"/>
                </a:solidFill>
              </a:defRPr>
            </a:pPr>
            <a:r>
              <a:t>TraffixAI is a localized, reactive AI Traffic Digital Twin. Using an edge-optimized YOLOv26n model, the system detects and tracks cars, trucks, motorcycles, and pedestrians lane-by-lane. It measures real-time queue densities and vehicle velocities to dynamically adjust signal durations. Crucially, the system offers Explainable AI (XAI) justifications to traffic operators and calculates real-time carbon offsets (CO2 saved) based on reduced vehicle idling times.</a:t>
            </a:r>
          </a:p>
        </p:txBody>
      </p:sp>
      <p:sp>
        <p:nvSpPr>
          <p:cNvPr id="9" name="Rectangle 8"/>
          <p:cNvSpPr/>
          <p:nvPr/>
        </p:nvSpPr>
        <p:spPr>
          <a:xfrm>
            <a:off x="457200" y="2926080"/>
            <a:ext cx="2651760" cy="3200400"/>
          </a:xfrm>
          <a:prstGeom prst="rect">
            <a:avLst/>
          </a:prstGeom>
          <a:solidFill>
            <a:srgbClr val="FFFFFF"/>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017520"/>
            <a:ext cx="2468880" cy="3017520"/>
          </a:xfrm>
          <a:prstGeom prst="rect">
            <a:avLst/>
          </a:prstGeom>
          <a:noFill/>
        </p:spPr>
        <p:txBody>
          <a:bodyPr wrap="square">
            <a:spAutoFit/>
          </a:bodyPr>
          <a:lstStyle/>
          <a:p>
            <a:pPr>
              <a:defRPr sz="1400" b="1">
                <a:solidFill>
                  <a:srgbClr val="003366"/>
                </a:solidFill>
              </a:defRPr>
            </a:pPr>
            <a:r>
              <a:t>1. Real-Time Spatial Digital Twin</a:t>
            </a:r>
          </a:p>
          <a:p>
            <a:br/>
            <a:pPr>
              <a:defRPr sz="1100">
                <a:solidFill>
                  <a:srgbClr val="323232"/>
                </a:solidFill>
              </a:defRPr>
            </a:pPr>
            <a:r>
              <a:t>Generates a live 2D virtual coordinate map showing exact vehicle locations, active lane statuses, and signal overrides.</a:t>
            </a:r>
          </a:p>
        </p:txBody>
      </p:sp>
      <p:sp>
        <p:nvSpPr>
          <p:cNvPr id="11" name="Rectangle 10"/>
          <p:cNvSpPr/>
          <p:nvPr/>
        </p:nvSpPr>
        <p:spPr>
          <a:xfrm>
            <a:off x="3291840" y="2926080"/>
            <a:ext cx="2651760" cy="3200400"/>
          </a:xfrm>
          <a:prstGeom prst="rect">
            <a:avLst/>
          </a:prstGeom>
          <a:solidFill>
            <a:srgbClr val="FFFFFF"/>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3017520"/>
            <a:ext cx="2468880" cy="3017520"/>
          </a:xfrm>
          <a:prstGeom prst="rect">
            <a:avLst/>
          </a:prstGeom>
          <a:noFill/>
        </p:spPr>
        <p:txBody>
          <a:bodyPr wrap="square">
            <a:spAutoFit/>
          </a:bodyPr>
          <a:lstStyle/>
          <a:p>
            <a:pPr>
              <a:defRPr sz="1400" b="1">
                <a:solidFill>
                  <a:srgbClr val="003366"/>
                </a:solidFill>
              </a:defRPr>
            </a:pPr>
            <a:r>
              <a:t>2. Adaptive Lane Override</a:t>
            </a:r>
          </a:p>
          <a:p>
            <a:br/>
            <a:pPr>
              <a:defRPr sz="1100">
                <a:solidFill>
                  <a:srgbClr val="323232"/>
                </a:solidFill>
              </a:defRPr>
            </a:pPr>
            <a:r>
              <a:t>Tracks queue weights lane-by-lane to adjust signal timings. Overrides signals to green immediately when emergency vehicles are detected.</a:t>
            </a:r>
          </a:p>
        </p:txBody>
      </p:sp>
      <p:sp>
        <p:nvSpPr>
          <p:cNvPr id="13" name="Rectangle 12"/>
          <p:cNvSpPr/>
          <p:nvPr/>
        </p:nvSpPr>
        <p:spPr>
          <a:xfrm>
            <a:off x="6126480" y="2926080"/>
            <a:ext cx="2651760" cy="3200400"/>
          </a:xfrm>
          <a:prstGeom prst="rect">
            <a:avLst/>
          </a:prstGeom>
          <a:solidFill>
            <a:srgbClr val="FFFFFF"/>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3017520"/>
            <a:ext cx="2468880" cy="3017520"/>
          </a:xfrm>
          <a:prstGeom prst="rect">
            <a:avLst/>
          </a:prstGeom>
          <a:noFill/>
        </p:spPr>
        <p:txBody>
          <a:bodyPr wrap="square">
            <a:spAutoFit/>
          </a:bodyPr>
          <a:lstStyle/>
          <a:p>
            <a:pPr>
              <a:defRPr sz="1400" b="1">
                <a:solidFill>
                  <a:srgbClr val="003366"/>
                </a:solidFill>
              </a:defRPr>
            </a:pPr>
            <a:r>
              <a:t>3. Explainable AI (XAI) Logs</a:t>
            </a:r>
          </a:p>
          <a:p>
            <a:br/>
            <a:pPr>
              <a:defRPr sz="1100">
                <a:solidFill>
                  <a:srgbClr val="323232"/>
                </a:solidFill>
              </a:defRPr>
            </a:pPr>
            <a:r>
              <a:t>Outputs clear operational reasons on the dashboard for signal changes (e.g., 'Extended Green due to critical queue weight on Lane 1').</a:t>
            </a:r>
          </a:p>
        </p:txBody>
      </p:sp>
      <p:sp>
        <p:nvSpPr>
          <p:cNvPr id="15" name="Rectangle 14"/>
          <p:cNvSpPr/>
          <p:nvPr/>
        </p:nvSpPr>
        <p:spPr>
          <a:xfrm>
            <a:off x="8961120" y="2926080"/>
            <a:ext cx="2651760" cy="3200400"/>
          </a:xfrm>
          <a:prstGeom prst="rect">
            <a:avLst/>
          </a:prstGeom>
          <a:solidFill>
            <a:srgbClr val="FFFFFF"/>
          </a:solidFill>
          <a:ln>
            <a:solidFill>
              <a:srgbClr val="009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3017520"/>
            <a:ext cx="2468880" cy="3017520"/>
          </a:xfrm>
          <a:prstGeom prst="rect">
            <a:avLst/>
          </a:prstGeom>
          <a:noFill/>
        </p:spPr>
        <p:txBody>
          <a:bodyPr wrap="square">
            <a:spAutoFit/>
          </a:bodyPr>
          <a:lstStyle/>
          <a:p>
            <a:pPr>
              <a:defRPr sz="1400" b="1">
                <a:solidFill>
                  <a:srgbClr val="00994C"/>
                </a:solidFill>
              </a:defRPr>
            </a:pPr>
            <a:r>
              <a:t>4. Eco-Impact Metrics (SDG 13)</a:t>
            </a:r>
          </a:p>
          <a:p>
            <a:br/>
            <a:pPr>
              <a:defRPr sz="1100">
                <a:solidFill>
                  <a:srgbClr val="323232"/>
                </a:solidFill>
              </a:defRPr>
            </a:pPr>
            <a:r>
              <a:t>Integrates a live carbon tracker calculating estimated fuel saved and CO2 emissions mitigated in real-time by reducing traffic idle times.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88952"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83680"/>
            <a:ext cx="11274552" cy="274320"/>
          </a:xfrm>
          <a:prstGeom prst="rect">
            <a:avLst/>
          </a:prstGeom>
          <a:noFill/>
        </p:spPr>
        <p:txBody>
          <a:bodyPr wrap="none">
            <a:spAutoFit/>
          </a:bodyPr>
          <a:lstStyle/>
          <a:p>
            <a:pPr>
              <a:defRPr sz="1000" b="1">
                <a:solidFill>
                  <a:srgbClr val="FFFFFF"/>
                </a:solidFill>
              </a:defRPr>
            </a:pPr>
            <a:r>
              <a:t>DECODE SIH 2026 | Bharat Nirman Track | PS1: AI Traffic Digital Twin</a:t>
            </a:r>
          </a:p>
        </p:txBody>
      </p:sp>
      <p:sp>
        <p:nvSpPr>
          <p:cNvPr id="5" name="TextBox 4"/>
          <p:cNvSpPr txBox="1"/>
          <p:nvPr/>
        </p:nvSpPr>
        <p:spPr>
          <a:xfrm>
            <a:off x="9144000" y="6583680"/>
            <a:ext cx="2587752" cy="274320"/>
          </a:xfrm>
          <a:prstGeom prst="rect">
            <a:avLst/>
          </a:prstGeom>
          <a:noFill/>
        </p:spPr>
        <p:txBody>
          <a:bodyPr wrap="none">
            <a:spAutoFit/>
          </a:bodyPr>
          <a:lstStyle/>
          <a:p>
            <a:pPr algn="ctr">
              <a:defRPr sz="1000" b="1">
                <a:solidFill>
                  <a:srgbClr val="FFFFFF"/>
                </a:solidFill>
              </a:defRPr>
            </a:pPr>
            <a:r>
              <a:t>CipherSquad [Code: KE5VND]</a:t>
            </a:r>
          </a:p>
        </p:txBody>
      </p:sp>
      <p:sp>
        <p:nvSpPr>
          <p:cNvPr id="6" name="TextBox 5"/>
          <p:cNvSpPr txBox="1"/>
          <p:nvPr/>
        </p:nvSpPr>
        <p:spPr>
          <a:xfrm>
            <a:off x="457200" y="274320"/>
            <a:ext cx="11274552" cy="731520"/>
          </a:xfrm>
          <a:prstGeom prst="rect">
            <a:avLst/>
          </a:prstGeom>
          <a:noFill/>
        </p:spPr>
        <p:txBody>
          <a:bodyPr wrap="none">
            <a:spAutoFit/>
          </a:bodyPr>
          <a:lstStyle/>
          <a:p>
            <a:pPr>
              <a:defRPr sz="2800" b="1">
                <a:solidFill>
                  <a:srgbClr val="003366"/>
                </a:solidFill>
                <a:latin typeface="Arial"/>
              </a:defRPr>
            </a:pPr>
            <a:r>
              <a:t>TECH STACK &amp; DEPLOYMENT PLAN</a:t>
            </a:r>
          </a:p>
        </p:txBody>
      </p:sp>
      <p:sp>
        <p:nvSpPr>
          <p:cNvPr id="7" name="Rectangle 6"/>
          <p:cNvSpPr/>
          <p:nvPr/>
        </p:nvSpPr>
        <p:spPr>
          <a:xfrm>
            <a:off x="457200" y="1005840"/>
            <a:ext cx="36576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71600"/>
            <a:ext cx="5486400" cy="4572000"/>
          </a:xfrm>
          <a:prstGeom prst="rect">
            <a:avLst/>
          </a:prstGeom>
          <a:noFill/>
        </p:spPr>
        <p:txBody>
          <a:bodyPr wrap="square">
            <a:spAutoFit/>
          </a:bodyPr>
          <a:lstStyle/>
          <a:p>
            <a:pPr>
              <a:defRPr sz="1800" b="1">
                <a:solidFill>
                  <a:srgbClr val="003366"/>
                </a:solidFill>
              </a:defRPr>
            </a:pPr>
            <a:r>
              <a:t>Core Technology Components</a:t>
            </a:r>
          </a:p>
          <a:p>
            <a:br/>
            <a:pPr>
              <a:defRPr sz="1300" b="1">
                <a:solidFill>
                  <a:srgbClr val="FF6600"/>
                </a:solidFill>
              </a:defRPr>
            </a:pPr>
            <a:r>
              <a:t>• Computer Vision:</a:t>
            </a:r>
          </a:p>
          <a:p>
            <a:pPr>
              <a:defRPr sz="1200">
                <a:solidFill>
                  <a:srgbClr val="323232"/>
                </a:solidFill>
              </a:defRPr>
            </a:pPr>
            <a:r>
              <a:t>Ultralytics YOLOv26n (High-speed vehicle &amp; pedestrian classification, &lt;10ms inference time).</a:t>
            </a:r>
          </a:p>
          <a:p>
            <a:br/>
            <a:pPr>
              <a:defRPr sz="1300" b="1">
                <a:solidFill>
                  <a:srgbClr val="FF6600"/>
                </a:solidFill>
              </a:defRPr>
            </a:pPr>
            <a:r>
              <a:t>• Core Processing:</a:t>
            </a:r>
          </a:p>
          <a:p>
            <a:pPr>
              <a:defRPr sz="1200">
                <a:solidFill>
                  <a:srgbClr val="323232"/>
                </a:solidFill>
              </a:defRPr>
            </a:pPr>
            <a:r>
              <a:t>Python 3.14 (Centroid velocity calculation, lane-density states, &amp; alarm triggers).</a:t>
            </a:r>
          </a:p>
          <a:p>
            <a:br/>
            <a:pPr>
              <a:defRPr sz="1300" b="1">
                <a:solidFill>
                  <a:srgbClr val="FF6600"/>
                </a:solidFill>
              </a:defRPr>
            </a:pPr>
            <a:r>
              <a:t>• GUI &amp; Spatial Map:</a:t>
            </a:r>
          </a:p>
          <a:p>
            <a:pPr>
              <a:defRPr sz="1200">
                <a:solidFill>
                  <a:srgbClr val="323232"/>
                </a:solidFill>
              </a:defRPr>
            </a:pPr>
            <a:r>
              <a:t>OpenCV HighGUI (Real-time video overlays, 2D vector coordinate mapping).</a:t>
            </a:r>
          </a:p>
          <a:p>
            <a:br/>
            <a:pPr>
              <a:defRPr sz="1300" b="1">
                <a:solidFill>
                  <a:srgbClr val="FF6600"/>
                </a:solidFill>
              </a:defRPr>
            </a:pPr>
            <a:r>
              <a:t>• Database Logging:</a:t>
            </a:r>
          </a:p>
          <a:p>
            <a:pPr>
              <a:defRPr sz="1200">
                <a:solidFill>
                  <a:srgbClr val="323232"/>
                </a:solidFill>
              </a:defRPr>
            </a:pPr>
            <a:r>
              <a:t>SQLite / Custom SQL (Structured database to log speed violations, anomalies, &amp; CO2 offsets).</a:t>
            </a:r>
          </a:p>
          <a:p>
            <a:br/>
            <a:pPr>
              <a:defRPr sz="1300" b="1">
                <a:solidFill>
                  <a:srgbClr val="FF6600"/>
                </a:solidFill>
              </a:defRPr>
            </a:pPr>
            <a:r>
              <a:t>• Local Alerts:</a:t>
            </a:r>
          </a:p>
          <a:p>
            <a:pPr>
              <a:defRPr sz="1200">
                <a:solidFill>
                  <a:srgbClr val="323232"/>
                </a:solidFill>
              </a:defRPr>
            </a:pPr>
            <a:r>
              <a:t>Pyttsx3 (Offline local speech alerting for speeding or collision notifications).</a:t>
            </a:r>
          </a:p>
        </p:txBody>
      </p:sp>
      <p:sp>
        <p:nvSpPr>
          <p:cNvPr id="9" name="TextBox 8"/>
          <p:cNvSpPr txBox="1"/>
          <p:nvPr/>
        </p:nvSpPr>
        <p:spPr>
          <a:xfrm>
            <a:off x="6400800" y="1371600"/>
            <a:ext cx="5303520" cy="4572000"/>
          </a:xfrm>
          <a:prstGeom prst="rect">
            <a:avLst/>
          </a:prstGeom>
          <a:noFill/>
        </p:spPr>
        <p:txBody>
          <a:bodyPr wrap="square">
            <a:spAutoFit/>
          </a:bodyPr>
          <a:lstStyle/>
          <a:p>
            <a:pPr>
              <a:defRPr sz="1800" b="1">
                <a:solidFill>
                  <a:srgbClr val="003366"/>
                </a:solidFill>
              </a:defRPr>
            </a:pPr>
            <a:r>
              <a:t>Deployment &amp; Scaling Strategy</a:t>
            </a:r>
          </a:p>
          <a:p>
            <a:br/>
            <a:pPr>
              <a:defRPr sz="1400" b="1">
                <a:solidFill>
                  <a:srgbClr val="00994C"/>
                </a:solidFill>
              </a:defRPr>
            </a:pPr>
            <a:r>
              <a:t>Edge-Hardware Deployment</a:t>
            </a:r>
          </a:p>
          <a:p>
            <a:pPr>
              <a:defRPr sz="1200">
                <a:solidFill>
                  <a:srgbClr val="323232"/>
                </a:solidFill>
              </a:defRPr>
            </a:pPr>
            <a:r>
              <a:t>The system is designed to run locally on low-cost edge platforms (NVIDIA Jetson Orin Nano or Raspberry Pi 5) installed directly at intersections. This minimizes bandwidth costs and ensures offline reliability.</a:t>
            </a:r>
          </a:p>
          <a:p>
            <a:br/>
            <a:pPr>
              <a:defRPr sz="1400" b="1">
                <a:solidFill>
                  <a:srgbClr val="00994C"/>
                </a:solidFill>
              </a:defRPr>
            </a:pPr>
            <a:r>
              <a:t>Cloud Syncing &amp; WebSockets</a:t>
            </a:r>
          </a:p>
          <a:p>
            <a:pPr>
              <a:defRPr sz="1200">
                <a:solidFill>
                  <a:srgbClr val="323232"/>
                </a:solidFill>
              </a:defRPr>
            </a:pPr>
            <a:r>
              <a:t>Edge units sync data logs periodically to a central dashboard via WebSockets. Municipal operators can monitor congestion heatmaps across the entire city from a lightweight React/Next.js interface.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88952"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583680"/>
            <a:ext cx="11274552" cy="274320"/>
          </a:xfrm>
          <a:prstGeom prst="rect">
            <a:avLst/>
          </a:prstGeom>
          <a:noFill/>
        </p:spPr>
        <p:txBody>
          <a:bodyPr wrap="none">
            <a:spAutoFit/>
          </a:bodyPr>
          <a:lstStyle/>
          <a:p>
            <a:pPr>
              <a:defRPr sz="1000" b="1">
                <a:solidFill>
                  <a:srgbClr val="FFFFFF"/>
                </a:solidFill>
              </a:defRPr>
            </a:pPr>
            <a:r>
              <a:t>DECODE SIH 2026 | Bharat Nirman Track | PS1: AI Traffic Digital Twin</a:t>
            </a:r>
          </a:p>
        </p:txBody>
      </p:sp>
      <p:sp>
        <p:nvSpPr>
          <p:cNvPr id="5" name="TextBox 4"/>
          <p:cNvSpPr txBox="1"/>
          <p:nvPr/>
        </p:nvSpPr>
        <p:spPr>
          <a:xfrm>
            <a:off x="9144000" y="6583680"/>
            <a:ext cx="2587752" cy="274320"/>
          </a:xfrm>
          <a:prstGeom prst="rect">
            <a:avLst/>
          </a:prstGeom>
          <a:noFill/>
        </p:spPr>
        <p:txBody>
          <a:bodyPr wrap="none">
            <a:spAutoFit/>
          </a:bodyPr>
          <a:lstStyle/>
          <a:p>
            <a:pPr algn="ctr">
              <a:defRPr sz="1000" b="1">
                <a:solidFill>
                  <a:srgbClr val="FFFFFF"/>
                </a:solidFill>
              </a:defRPr>
            </a:pPr>
            <a:r>
              <a:t>CipherSquad [Code: KE5VND]</a:t>
            </a:r>
          </a:p>
        </p:txBody>
      </p:sp>
      <p:sp>
        <p:nvSpPr>
          <p:cNvPr id="6" name="TextBox 5"/>
          <p:cNvSpPr txBox="1"/>
          <p:nvPr/>
        </p:nvSpPr>
        <p:spPr>
          <a:xfrm>
            <a:off x="457200" y="274320"/>
            <a:ext cx="11274552" cy="731520"/>
          </a:xfrm>
          <a:prstGeom prst="rect">
            <a:avLst/>
          </a:prstGeom>
          <a:noFill/>
        </p:spPr>
        <p:txBody>
          <a:bodyPr wrap="none">
            <a:spAutoFit/>
          </a:bodyPr>
          <a:lstStyle/>
          <a:p>
            <a:pPr>
              <a:defRPr sz="2800" b="1">
                <a:solidFill>
                  <a:srgbClr val="003366"/>
                </a:solidFill>
                <a:latin typeface="Arial"/>
              </a:defRPr>
            </a:pPr>
            <a:r>
              <a:t>SYSTEM ARCHITECTURE FLOW</a:t>
            </a:r>
          </a:p>
        </p:txBody>
      </p:sp>
      <p:sp>
        <p:nvSpPr>
          <p:cNvPr id="7" name="Rectangle 6"/>
          <p:cNvSpPr/>
          <p:nvPr/>
        </p:nvSpPr>
        <p:spPr>
          <a:xfrm>
            <a:off x="457200" y="1005840"/>
            <a:ext cx="36576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011680"/>
            <a:ext cx="1737360" cy="3840480"/>
          </a:xfrm>
          <a:prstGeom prst="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103120"/>
            <a:ext cx="1645920" cy="3657600"/>
          </a:xfrm>
          <a:prstGeom prst="rect">
            <a:avLst/>
          </a:prstGeom>
          <a:noFill/>
        </p:spPr>
        <p:txBody>
          <a:bodyPr wrap="square">
            <a:spAutoFit/>
          </a:bodyPr>
          <a:lstStyle/>
          <a:p>
            <a:pPr>
              <a:defRPr sz="1300" b="1">
                <a:solidFill>
                  <a:srgbClr val="003366"/>
                </a:solidFill>
              </a:defRPr>
            </a:pPr>
            <a:r>
              <a:t>1. INGEST</a:t>
            </a:r>
          </a:p>
          <a:p>
            <a:br/>
            <a:pPr>
              <a:defRPr sz="1100">
                <a:solidFill>
                  <a:srgbClr val="323232"/>
                </a:solidFill>
              </a:defRPr>
            </a:pPr>
            <a:r>
              <a:t>Traffic camera feed frames are loaded into memory.</a:t>
            </a:r>
          </a:p>
        </p:txBody>
      </p:sp>
      <p:sp>
        <p:nvSpPr>
          <p:cNvPr id="10" name="Rectangle 9"/>
          <p:cNvSpPr/>
          <p:nvPr/>
        </p:nvSpPr>
        <p:spPr>
          <a:xfrm>
            <a:off x="2377440" y="2011680"/>
            <a:ext cx="1737360" cy="3840480"/>
          </a:xfrm>
          <a:prstGeom prst="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23160" y="2103120"/>
            <a:ext cx="1645920" cy="3657600"/>
          </a:xfrm>
          <a:prstGeom prst="rect">
            <a:avLst/>
          </a:prstGeom>
          <a:noFill/>
        </p:spPr>
        <p:txBody>
          <a:bodyPr wrap="square">
            <a:spAutoFit/>
          </a:bodyPr>
          <a:lstStyle/>
          <a:p>
            <a:pPr>
              <a:defRPr sz="1300" b="1">
                <a:solidFill>
                  <a:srgbClr val="003366"/>
                </a:solidFill>
              </a:defRPr>
            </a:pPr>
            <a:r>
              <a:t>2. AI DETECT</a:t>
            </a:r>
          </a:p>
          <a:p>
            <a:br/>
            <a:pPr>
              <a:defRPr sz="1100">
                <a:solidFill>
                  <a:srgbClr val="323232"/>
                </a:solidFill>
              </a:defRPr>
            </a:pPr>
            <a:r>
              <a:t>YOLOv26n classifies vehicles, pedestrians, &amp; emergency vehicles.</a:t>
            </a:r>
          </a:p>
        </p:txBody>
      </p:sp>
      <p:sp>
        <p:nvSpPr>
          <p:cNvPr id="12" name="Rectangle 11"/>
          <p:cNvSpPr/>
          <p:nvPr/>
        </p:nvSpPr>
        <p:spPr>
          <a:xfrm>
            <a:off x="4297680" y="2011680"/>
            <a:ext cx="1737360" cy="3840480"/>
          </a:xfrm>
          <a:prstGeom prst="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2103120"/>
            <a:ext cx="1645920" cy="3657600"/>
          </a:xfrm>
          <a:prstGeom prst="rect">
            <a:avLst/>
          </a:prstGeom>
          <a:noFill/>
        </p:spPr>
        <p:txBody>
          <a:bodyPr wrap="square">
            <a:spAutoFit/>
          </a:bodyPr>
          <a:lstStyle/>
          <a:p>
            <a:pPr>
              <a:defRPr sz="1300" b="1">
                <a:solidFill>
                  <a:srgbClr val="003366"/>
                </a:solidFill>
              </a:defRPr>
            </a:pPr>
            <a:r>
              <a:t>3. TRACK</a:t>
            </a:r>
          </a:p>
          <a:p>
            <a:br/>
            <a:pPr>
              <a:defRPr sz="1100">
                <a:solidFill>
                  <a:srgbClr val="323232"/>
                </a:solidFill>
              </a:defRPr>
            </a:pPr>
            <a:r>
              <a:t>Centroid tracker measures speeds and monitors for collision IoUs.</a:t>
            </a:r>
          </a:p>
        </p:txBody>
      </p:sp>
      <p:sp>
        <p:nvSpPr>
          <p:cNvPr id="14" name="Rectangle 13"/>
          <p:cNvSpPr/>
          <p:nvPr/>
        </p:nvSpPr>
        <p:spPr>
          <a:xfrm>
            <a:off x="6217920" y="2011680"/>
            <a:ext cx="1737360" cy="3840480"/>
          </a:xfrm>
          <a:prstGeom prst="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2103120"/>
            <a:ext cx="1645920" cy="3657600"/>
          </a:xfrm>
          <a:prstGeom prst="rect">
            <a:avLst/>
          </a:prstGeom>
          <a:noFill/>
        </p:spPr>
        <p:txBody>
          <a:bodyPr wrap="square">
            <a:spAutoFit/>
          </a:bodyPr>
          <a:lstStyle/>
          <a:p>
            <a:pPr>
              <a:defRPr sz="1300" b="1">
                <a:solidFill>
                  <a:srgbClr val="003366"/>
                </a:solidFill>
              </a:defRPr>
            </a:pPr>
            <a:r>
              <a:t>4. FORECAST</a:t>
            </a:r>
          </a:p>
          <a:p>
            <a:br/>
            <a:pPr>
              <a:defRPr sz="1100">
                <a:solidFill>
                  <a:srgbClr val="323232"/>
                </a:solidFill>
              </a:defRPr>
            </a:pPr>
            <a:r>
              <a:t>Congestion engine updates density history &amp; forecasts trends.</a:t>
            </a:r>
          </a:p>
        </p:txBody>
      </p:sp>
      <p:sp>
        <p:nvSpPr>
          <p:cNvPr id="16" name="Rectangle 15"/>
          <p:cNvSpPr/>
          <p:nvPr/>
        </p:nvSpPr>
        <p:spPr>
          <a:xfrm>
            <a:off x="8138160" y="2011680"/>
            <a:ext cx="1737360" cy="3840480"/>
          </a:xfrm>
          <a:prstGeom prst="rect">
            <a:avLst/>
          </a:prstGeom>
          <a:solidFill>
            <a:srgbClr val="FFFFFF"/>
          </a:solidFill>
          <a:ln w="1905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03120"/>
            <a:ext cx="1645920" cy="3657600"/>
          </a:xfrm>
          <a:prstGeom prst="rect">
            <a:avLst/>
          </a:prstGeom>
          <a:noFill/>
        </p:spPr>
        <p:txBody>
          <a:bodyPr wrap="square">
            <a:spAutoFit/>
          </a:bodyPr>
          <a:lstStyle/>
          <a:p>
            <a:pPr>
              <a:defRPr sz="1300" b="1">
                <a:solidFill>
                  <a:srgbClr val="FF6600"/>
                </a:solidFill>
              </a:defRPr>
            </a:pPr>
            <a:r>
              <a:t>5. RESPOND</a:t>
            </a:r>
          </a:p>
          <a:p>
            <a:br/>
            <a:pPr>
              <a:defRPr sz="1100">
                <a:solidFill>
                  <a:srgbClr val="323232"/>
                </a:solidFill>
              </a:defRPr>
            </a:pPr>
            <a:r>
              <a:t>Signals adjust adaptively. Voice warnings &amp; dispatches fire/police.</a:t>
            </a:r>
          </a:p>
        </p:txBody>
      </p:sp>
      <p:sp>
        <p:nvSpPr>
          <p:cNvPr id="18" name="Rectangle 17"/>
          <p:cNvSpPr/>
          <p:nvPr/>
        </p:nvSpPr>
        <p:spPr>
          <a:xfrm>
            <a:off x="10058400" y="2011680"/>
            <a:ext cx="1737360" cy="3840480"/>
          </a:xfrm>
          <a:prstGeom prst="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04120" y="2103120"/>
            <a:ext cx="1645920" cy="3657600"/>
          </a:xfrm>
          <a:prstGeom prst="rect">
            <a:avLst/>
          </a:prstGeom>
          <a:noFill/>
        </p:spPr>
        <p:txBody>
          <a:bodyPr wrap="square">
            <a:spAutoFit/>
          </a:bodyPr>
          <a:lstStyle/>
          <a:p>
            <a:pPr>
              <a:defRPr sz="1300" b="1">
                <a:solidFill>
                  <a:srgbClr val="003366"/>
                </a:solidFill>
              </a:defRPr>
            </a:pPr>
            <a:r>
              <a:t>6. VISUALIZE</a:t>
            </a:r>
          </a:p>
          <a:p>
            <a:br/>
            <a:pPr>
              <a:defRPr sz="1100">
                <a:solidFill>
                  <a:srgbClr val="323232"/>
                </a:solidFill>
              </a:defRPr>
            </a:pPr>
            <a:r>
              <a:t>2D Spatial Twin renders active coordinate map &amp; ECO metrics.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0152" cy="3657600"/>
          </a:xfrm>
          <a:prstGeom prst="rect">
            <a:avLst/>
          </a:prstGeom>
          <a:noFill/>
        </p:spPr>
        <p:txBody>
          <a:bodyPr wrap="square">
            <a:spAutoFit/>
          </a:bodyPr>
          <a:lstStyle/>
          <a:p>
            <a:pPr algn="l">
              <a:defRPr sz="4800" b="1">
                <a:solidFill>
                  <a:srgbClr val="FFFFFF"/>
                </a:solidFill>
                <a:latin typeface="Arial"/>
              </a:defRPr>
            </a:pPr>
            <a:r>
              <a:t>THANK YOU!</a:t>
            </a:r>
          </a:p>
          <a:p>
            <a:pPr algn="l">
              <a:defRPr sz="2400" b="1">
                <a:solidFill>
                  <a:srgbClr val="FF6600"/>
                </a:solidFill>
              </a:defRPr>
            </a:pPr>
            <a:r>
              <a:t>TraffixAI — CipherSquad</a:t>
            </a:r>
          </a:p>
          <a:p>
            <a:br/>
            <a:pPr algn="l">
              <a:defRPr sz="1800">
                <a:solidFill>
                  <a:srgbClr val="F5F7FA"/>
                </a:solidFill>
              </a:defRPr>
            </a:pPr>
            <a:r>
              <a:t>Let's build India's smart cities and sustainable transportation grids.</a:t>
            </a:r>
          </a:p>
          <a:p>
            <a:br/>
            <a:pPr algn="l">
              <a:defRPr sz="1500">
                <a:solidFill>
                  <a:srgbClr val="FFFFFF"/>
                </a:solidFill>
              </a:defRPr>
            </a:pPr>
            <a:r>
              <a:t>Contact: deephalder209@gmail.com | Team Code: KE5VND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