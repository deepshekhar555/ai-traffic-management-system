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19" y="-17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none">
            <a:spAutoFit/>
          </a:bodyPr>
          <a:lstStyle/>
          <a:p>
            <a:pPr>
              <a:defRPr sz="4400" b="1">
                <a:solidFill>
                  <a:srgbClr val="000000"/>
                </a:solidFill>
                <a:latin typeface="Arial"/>
              </a:defRPr>
            </a:pPr>
            <a:r>
              <a:t>DECODE SIH 2026</a:t>
            </a:r>
          </a:p>
        </p:txBody>
      </p:sp>
      <p:sp>
        <p:nvSpPr>
          <p:cNvPr id="7" name="TextBox 6"/>
          <p:cNvSpPr txBox="1"/>
          <p:nvPr/>
        </p:nvSpPr>
        <p:spPr>
          <a:xfrm>
            <a:off x="731520" y="2743200"/>
            <a:ext cx="8686800" cy="1754326"/>
          </a:xfrm>
          <a:prstGeom prst="rect">
            <a:avLst/>
          </a:prstGeom>
          <a:noFill/>
        </p:spPr>
        <p:txBody>
          <a:bodyPr wrap="square">
            <a:spAutoFit/>
          </a:bodyPr>
          <a:lstStyle/>
          <a:p>
            <a:pPr>
              <a:defRPr sz="3600" b="1">
                <a:solidFill>
                  <a:srgbClr val="000000"/>
                </a:solidFill>
                <a:latin typeface="Arial"/>
              </a:defRPr>
            </a:pPr>
            <a:r>
              <a:rPr dirty="0" err="1"/>
              <a:t>TraffixAI</a:t>
            </a:r>
            <a:r>
              <a:rPr dirty="0"/>
              <a:t>: AI-Powered Smart City Traffic Digital Twin with Emergency Response and Congestion Intelligence</a:t>
            </a:r>
          </a:p>
        </p:txBody>
      </p:sp>
      <p:sp>
        <p:nvSpPr>
          <p:cNvPr id="8" name="TextBox 7"/>
          <p:cNvSpPr txBox="1"/>
          <p:nvPr/>
        </p:nvSpPr>
        <p:spPr>
          <a:xfrm>
            <a:off x="731520" y="5303520"/>
            <a:ext cx="11155680" cy="338554"/>
          </a:xfrm>
          <a:prstGeom prst="rect">
            <a:avLst/>
          </a:prstGeom>
          <a:noFill/>
        </p:spPr>
        <p:txBody>
          <a:bodyPr wrap="square">
            <a:spAutoFit/>
          </a:bodyPr>
          <a:lstStyle/>
          <a:p>
            <a:pPr>
              <a:defRPr sz="1600" b="1">
                <a:solidFill>
                  <a:srgbClr val="000000"/>
                </a:solidFill>
                <a:latin typeface="Arial"/>
              </a:defRPr>
            </a:pPr>
            <a:r>
              <a:rPr dirty="0"/>
              <a:t>PRESENTED BY: Team </a:t>
            </a:r>
            <a:r>
              <a:rPr dirty="0" err="1"/>
              <a:t>CipherSquad</a:t>
            </a:r>
            <a:r>
              <a:rPr dirty="0"/>
              <a:t> (Code: KE5VND) | </a:t>
            </a:r>
            <a:r>
              <a:rPr dirty="0" err="1"/>
              <a:t>Adamas</a:t>
            </a:r>
            <a:r>
              <a:rPr dirty="0"/>
              <a:t> University, Kolkata | SIH 2026 Bharat </a:t>
            </a:r>
            <a:r>
              <a:rPr dirty="0" err="1"/>
              <a:t>Nirman</a:t>
            </a:r>
            <a:r>
              <a:rPr dirty="0"/>
              <a:t> </a:t>
            </a:r>
            <a:r>
              <a:rPr dirty="0" smtClean="0"/>
              <a:t>PS1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TEAM MEMBERS</a:t>
            </a:r>
          </a:p>
        </p:txBody>
      </p:sp>
      <p:sp>
        <p:nvSpPr>
          <p:cNvPr id="7" name="TextBox 6"/>
          <p:cNvSpPr txBox="1"/>
          <p:nvPr/>
        </p:nvSpPr>
        <p:spPr>
          <a:xfrm>
            <a:off x="731520" y="1197864"/>
            <a:ext cx="10963656" cy="7386638"/>
          </a:xfrm>
          <a:prstGeom prst="rect">
            <a:avLst/>
          </a:prstGeom>
          <a:noFill/>
        </p:spPr>
        <p:txBody>
          <a:bodyPr wrap="square">
            <a:spAutoFit/>
          </a:bodyPr>
          <a:lstStyle/>
          <a:p>
            <a:pPr>
              <a:defRPr sz="1800" b="1">
                <a:solidFill>
                  <a:srgbClr val="000000"/>
                </a:solidFill>
                <a:latin typeface="Arial"/>
              </a:defRPr>
            </a:pPr>
            <a:r>
              <a:rPr dirty="0"/>
              <a:t>* Deep </a:t>
            </a:r>
            <a:r>
              <a:rPr dirty="0" err="1"/>
              <a:t>Shekhar</a:t>
            </a:r>
            <a:r>
              <a:rPr dirty="0"/>
              <a:t> </a:t>
            </a:r>
            <a:r>
              <a:rPr dirty="0" err="1"/>
              <a:t>Halder</a:t>
            </a:r>
            <a:r>
              <a:rPr dirty="0"/>
              <a:t> (Team Leader)
  Role: AI Core Lead — YOLOv26n, SURTRAC signal control, </a:t>
            </a:r>
            <a:r>
              <a:rPr lang="en-US" dirty="0" smtClean="0"/>
              <a:t>    </a:t>
            </a:r>
            <a:r>
              <a:rPr dirty="0" err="1" smtClean="0"/>
              <a:t>ByteTrack</a:t>
            </a:r>
            <a:r>
              <a:rPr dirty="0"/>
              <a:t>, emergency dispatch system
* </a:t>
            </a:r>
            <a:r>
              <a:rPr dirty="0" err="1"/>
              <a:t>Sayan</a:t>
            </a:r>
            <a:r>
              <a:rPr dirty="0"/>
              <a:t> </a:t>
            </a:r>
            <a:r>
              <a:rPr dirty="0" err="1"/>
              <a:t>Pramanik</a:t>
            </a:r>
            <a:r>
              <a:rPr dirty="0"/>
              <a:t>
  Role: Backend and Signal AI — MQTT telemetry, RL agent, traffic database, V2X communication
* </a:t>
            </a:r>
            <a:r>
              <a:rPr dirty="0" err="1"/>
              <a:t>Soumyojit</a:t>
            </a:r>
            <a:r>
              <a:rPr dirty="0"/>
              <a:t> Banerjee
  Role: Digital Twin and Maps — </a:t>
            </a:r>
            <a:r>
              <a:rPr dirty="0" err="1"/>
              <a:t>MapLibre</a:t>
            </a:r>
            <a:r>
              <a:rPr dirty="0"/>
              <a:t> 3D GIS twin, React Command Center UI, dashboard
* </a:t>
            </a:r>
            <a:r>
              <a:rPr dirty="0" err="1"/>
              <a:t>Suman</a:t>
            </a:r>
            <a:r>
              <a:rPr dirty="0"/>
              <a:t> </a:t>
            </a:r>
            <a:r>
              <a:rPr dirty="0" err="1"/>
              <a:t>Mondal</a:t>
            </a:r>
            <a:r>
              <a:rPr dirty="0"/>
              <a:t>
  Role: Data and ML Pipeline — </a:t>
            </a:r>
            <a:r>
              <a:rPr dirty="0" err="1"/>
              <a:t>XGBoost</a:t>
            </a:r>
            <a:r>
              <a:rPr dirty="0"/>
              <a:t> forecasting, STGCN Graph Neural Network, SUMO simulation
* </a:t>
            </a:r>
            <a:r>
              <a:rPr dirty="0" err="1"/>
              <a:t>Kausturi</a:t>
            </a:r>
            <a:r>
              <a:rPr dirty="0"/>
              <a:t> </a:t>
            </a:r>
            <a:r>
              <a:rPr dirty="0" err="1"/>
              <a:t>Chakraborty</a:t>
            </a:r>
            <a:r>
              <a:rPr dirty="0"/>
              <a:t>
  Role: UI/UX and Visualization — React dashboard, CO2 analytics UI, alert panels, camera feed
* </a:t>
            </a:r>
            <a:r>
              <a:rPr dirty="0" err="1"/>
              <a:t>Rituraj</a:t>
            </a:r>
            <a:r>
              <a:rPr dirty="0"/>
              <a:t> </a:t>
            </a:r>
            <a:r>
              <a:rPr dirty="0" err="1"/>
              <a:t>Saha</a:t>
            </a:r>
            <a:r>
              <a:rPr dirty="0"/>
              <a:t>
  Role: Hardware and </a:t>
            </a:r>
            <a:r>
              <a:rPr dirty="0" err="1"/>
              <a:t>IoT</a:t>
            </a:r>
            <a:r>
              <a:rPr dirty="0"/>
              <a:t> — Raspberry Pi GPIO, </a:t>
            </a:r>
            <a:r>
              <a:rPr dirty="0" err="1"/>
              <a:t>Arduino</a:t>
            </a:r>
            <a:r>
              <a:rPr dirty="0"/>
              <a:t> serial, 24GHz radar, ANPR module
</a:t>
            </a:r>
          </a:p>
          <a:p>
            <a:pPr>
              <a:defRPr sz="1300">
                <a:solidFill>
                  <a:srgbClr val="505050"/>
                </a:solidFill>
                <a:latin typeface="Arial"/>
              </a:defRPr>
            </a:pPr>
            <a:r>
              <a:rPr dirty="0"/>
              <a:t/>
            </a:r>
            <a:br>
              <a:rPr dirty="0"/>
            </a:br>
            <a:endParaRPr dirty="0"/>
          </a:p>
          <a:p>
            <a:pPr>
              <a:defRPr sz="1800" b="1">
                <a:solidFill>
                  <a:srgbClr val="000000"/>
                </a:solidFill>
                <a:latin typeface="Arial"/>
              </a:defRPr>
            </a:pPr>
            <a:endParaRPr dirty="0"/>
          </a:p>
          <a:p>
            <a:pPr>
              <a:defRPr sz="1300">
                <a:solidFill>
                  <a:srgbClr val="505050"/>
                </a:solidFill>
                <a:latin typeface="Arial"/>
              </a:defRPr>
            </a:pPr>
            <a:r>
              <a:rPr dirty="0"/>
              <a:t/>
            </a:r>
            <a:br>
              <a:rPr dirty="0"/>
            </a:br>
            <a:endParaRPr dirty="0"/>
          </a:p>
          <a:p>
            <a:pPr>
              <a:defRPr sz="1800" b="1">
                <a:solidFill>
                  <a:srgbClr val="000000"/>
                </a:solidFill>
                <a:latin typeface="Arial"/>
              </a:defRPr>
            </a:pPr>
            <a:endParaRPr dirty="0"/>
          </a:p>
          <a:p>
            <a:pPr>
              <a:defRPr sz="1300">
                <a:solidFill>
                  <a:srgbClr val="505050"/>
                </a:solidFill>
                <a:latin typeface="Arial"/>
              </a:defRPr>
            </a:pPr>
            <a:r>
              <a:rPr dirty="0"/>
              <a:t/>
            </a:r>
            <a:br>
              <a:rPr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PROBLEM STATEMENT</a:t>
            </a:r>
          </a:p>
        </p:txBody>
      </p:sp>
      <p:sp>
        <p:nvSpPr>
          <p:cNvPr id="7" name="TextBox 6"/>
          <p:cNvSpPr txBox="1"/>
          <p:nvPr/>
        </p:nvSpPr>
        <p:spPr>
          <a:xfrm>
            <a:off x="731520" y="1463040"/>
            <a:ext cx="7772400" cy="4524315"/>
          </a:xfrm>
          <a:prstGeom prst="rect">
            <a:avLst/>
          </a:prstGeom>
          <a:noFill/>
        </p:spPr>
        <p:txBody>
          <a:bodyPr wrap="square">
            <a:spAutoFit/>
          </a:bodyPr>
          <a:lstStyle/>
          <a:p>
            <a:pPr>
              <a:defRPr sz="1600" b="1">
                <a:solidFill>
                  <a:srgbClr val="000000"/>
                </a:solidFill>
                <a:latin typeface="Arial"/>
              </a:defRPr>
            </a:pPr>
            <a:r>
              <a:rPr sz="1600" dirty="0"/>
              <a:t>Problem Title (Pick from </a:t>
            </a:r>
            <a:r>
              <a:rPr sz="1600" dirty="0" err="1"/>
              <a:t>OSCode's</a:t>
            </a:r>
            <a:r>
              <a:rPr sz="1600" dirty="0"/>
              <a:t> Decode SIH 2026 list - link)</a:t>
            </a:r>
          </a:p>
          <a:p>
            <a:pPr>
              <a:defRPr sz="1200">
                <a:solidFill>
                  <a:srgbClr val="505050"/>
                </a:solidFill>
                <a:latin typeface="Arial"/>
              </a:defRPr>
            </a:pPr>
            <a:r>
              <a:rPr sz="1600" dirty="0"/>
              <a:t>PS1: AI Traffic Digital Twin for smart traffic optimization and congestion prediction (BHARAT NIRMAN Track)</a:t>
            </a:r>
            <a:br>
              <a:rPr sz="1600" dirty="0"/>
            </a:br>
            <a:endParaRPr sz="1600" dirty="0"/>
          </a:p>
          <a:p>
            <a:pPr>
              <a:defRPr sz="1600" b="1">
                <a:solidFill>
                  <a:srgbClr val="000000"/>
                </a:solidFill>
                <a:latin typeface="Arial"/>
              </a:defRPr>
            </a:pPr>
            <a:r>
              <a:rPr sz="1600" dirty="0"/>
              <a:t>What does this Problem Aim to Solve?</a:t>
            </a:r>
          </a:p>
          <a:p>
            <a:pPr>
              <a:defRPr sz="1200">
                <a:solidFill>
                  <a:srgbClr val="505050"/>
                </a:solidFill>
                <a:latin typeface="Arial"/>
              </a:defRPr>
            </a:pPr>
            <a:r>
              <a:rPr sz="1600" dirty="0"/>
              <a:t>Urban traffic congestion in Indian cities causes massive economic losses, increased carbon emissions, and critical emergency response delays. Current traffic control systems are static (run on fixed timers) or rely on manual intervention. They cannot adapt to real-time traffic density variations, track lane-specific traffic volume, or automatically clear paths for emergency vehicles.</a:t>
            </a:r>
            <a:br>
              <a:rPr sz="1600" dirty="0"/>
            </a:br>
            <a:endParaRPr sz="1600" dirty="0"/>
          </a:p>
          <a:p>
            <a:pPr>
              <a:defRPr sz="1600" b="1">
                <a:solidFill>
                  <a:srgbClr val="000000"/>
                </a:solidFill>
                <a:latin typeface="Arial"/>
              </a:defRPr>
            </a:pPr>
            <a:r>
              <a:rPr sz="1600" dirty="0"/>
              <a:t>Why did your team choose this?</a:t>
            </a:r>
          </a:p>
          <a:p>
            <a:pPr>
              <a:defRPr sz="1200">
                <a:solidFill>
                  <a:srgbClr val="505050"/>
                </a:solidFill>
                <a:latin typeface="Arial"/>
              </a:defRPr>
            </a:pPr>
            <a:r>
              <a:rPr sz="1600" dirty="0"/>
              <a:t>Traffic congestion directly impacts daily life, emergency response times, and fuel wastage. We chose this because we have built a working core of an edge-optimized AI traffic management tool. By developing an active 2D Spatial Digital Twin, we can translate raw video feeds into digital spatial coordinates to optimize traffic flow dynamically and save lives.</a:t>
            </a:r>
            <a:br>
              <a:rPr sz="1600" dirty="0"/>
            </a:b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REAL-WORLD PROBLEM ALIGNMENT</a:t>
            </a:r>
          </a:p>
        </p:txBody>
      </p:sp>
      <p:sp>
        <p:nvSpPr>
          <p:cNvPr id="7" name="TextBox 6"/>
          <p:cNvSpPr txBox="1"/>
          <p:nvPr/>
        </p:nvSpPr>
        <p:spPr>
          <a:xfrm>
            <a:off x="731520" y="1371600"/>
            <a:ext cx="8686800" cy="4278094"/>
          </a:xfrm>
          <a:prstGeom prst="rect">
            <a:avLst/>
          </a:prstGeom>
          <a:noFill/>
        </p:spPr>
        <p:txBody>
          <a:bodyPr wrap="square">
            <a:spAutoFit/>
          </a:bodyPr>
          <a:lstStyle/>
          <a:p>
            <a:r>
              <a:rPr sz="1600" dirty="0"/>
              <a:t>Who faces this issue?</a:t>
            </a:r>
          </a:p>
          <a:p>
            <a:r>
              <a:rPr sz="1600" dirty="0"/>
              <a:t>Daily commuters &amp; transport services, emergency services (ambulances), smart city traffic administrations, and connected autonomous vehicles (CAVs).</a:t>
            </a:r>
          </a:p>
          <a:p>
            <a:endParaRPr sz="1600" dirty="0"/>
          </a:p>
          <a:p>
            <a:r>
              <a:rPr sz="1600" dirty="0"/>
              <a:t>What's the current gap in the system?</a:t>
            </a:r>
          </a:p>
          <a:p>
            <a:r>
              <a:rPr sz="1600" dirty="0"/>
              <a:t>Lack of lane-level traffic density awareness, static traffic light timers, no V2X (Vehicle-to-Everything) 5G communication, no 24GHz Doppler Radar fusion, no multi-scenario micro-simulation evaluation, no ANPR digital ticket issuance, and no acoustic siren preemption.</a:t>
            </a:r>
          </a:p>
          <a:p>
            <a:endParaRPr sz="1600" dirty="0"/>
          </a:p>
          <a:p>
            <a:r>
              <a:rPr sz="1600" dirty="0"/>
              <a:t>How does your proposed solution fill that gap practically?</a:t>
            </a:r>
          </a:p>
          <a:p>
            <a:r>
              <a:rPr sz="1600" dirty="0"/>
              <a:t>Fills gaps by combining YOLOv26n vision with 24GHz Doppler Radar, C-V2X 5G GLOSA speed advisories (45 km/h), </a:t>
            </a:r>
            <a:r>
              <a:rPr sz="1600" dirty="0" err="1"/>
              <a:t>PyTorch</a:t>
            </a:r>
            <a:r>
              <a:rPr sz="1600" dirty="0"/>
              <a:t> Deep Q-Network (DQN) RL + CMU SURTRAC signal optimization, ANPR E-</a:t>
            </a:r>
            <a:r>
              <a:rPr sz="1600" dirty="0" err="1"/>
              <a:t>Challan</a:t>
            </a:r>
            <a:r>
              <a:rPr sz="1600" dirty="0"/>
              <a:t> digital ticketing, and a 9-Scenario Parallel Micro-Simulation Grid with Gold Ribbon Winner selection.</a:t>
            </a:r>
          </a:p>
          <a:p>
            <a:endParaRPr sz="1600" dirty="0"/>
          </a:p>
          <a:p>
            <a:r>
              <a:rPr sz="1600" dirty="0"/>
              <a:t>If possible, mention if it connects to any existing schemes.</a:t>
            </a:r>
          </a:p>
          <a:p>
            <a:r>
              <a:rPr sz="1600" dirty="0"/>
              <a:t>Connects directly with the Smart Cities Mission (intelligent transport systems), Digital India (edge AI computing), and National Automotive Board V2X Connected Vehicle Initiatives.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PROPOSED SOLUTION</a:t>
            </a:r>
          </a:p>
        </p:txBody>
      </p:sp>
      <p:sp>
        <p:nvSpPr>
          <p:cNvPr id="7" name="TextBox 6"/>
          <p:cNvSpPr txBox="1"/>
          <p:nvPr/>
        </p:nvSpPr>
        <p:spPr>
          <a:xfrm>
            <a:off x="731520" y="1371600"/>
            <a:ext cx="10908792" cy="5016758"/>
          </a:xfrm>
          <a:prstGeom prst="rect">
            <a:avLst/>
          </a:prstGeom>
          <a:noFill/>
        </p:spPr>
        <p:txBody>
          <a:bodyPr wrap="square">
            <a:spAutoFit/>
          </a:bodyPr>
          <a:lstStyle/>
          <a:p>
            <a:r>
              <a:rPr sz="1600" dirty="0"/>
              <a:t>What are you Building?</a:t>
            </a:r>
          </a:p>
          <a:p>
            <a:r>
              <a:rPr sz="1600" dirty="0" err="1"/>
              <a:t>TraffixAI</a:t>
            </a:r>
            <a:r>
              <a:rPr sz="1600" dirty="0"/>
              <a:t> is an advanced Smart Mobility AI Traffic Digital Twin &amp; C-V2X 5G Communication Hub. Using an edge-optimized YOLOv26n model fused with 24GHz Doppler Radar and 3D </a:t>
            </a:r>
            <a:r>
              <a:rPr sz="1600" dirty="0" err="1"/>
              <a:t>Homography</a:t>
            </a:r>
            <a:r>
              <a:rPr sz="1600" dirty="0"/>
              <a:t> Bird's Eye View (BEV) coordinates ([BEV: +1.4m, 12.8m]), the system tracks vehicles and pedestrians lane-by-lane. Features an Iron Man AR HUD, CMU SURTRAC + </a:t>
            </a:r>
            <a:r>
              <a:rPr sz="1600" dirty="0" err="1"/>
              <a:t>PyTorch</a:t>
            </a:r>
            <a:r>
              <a:rPr sz="1600" dirty="0"/>
              <a:t> DQN RL adaptive signal logic, acoustic siren preemption, ANPR E-</a:t>
            </a:r>
            <a:r>
              <a:rPr sz="1600" dirty="0" err="1"/>
              <a:t>Challans</a:t>
            </a:r>
            <a:r>
              <a:rPr sz="1600" dirty="0"/>
              <a:t>, V2X GLOSA speed advisories, and real-time CO2 carbon offset tracking.</a:t>
            </a:r>
          </a:p>
          <a:p>
            <a:endParaRPr sz="1600" dirty="0"/>
          </a:p>
          <a:p>
            <a:r>
              <a:rPr sz="1600" dirty="0"/>
              <a:t>What are the Key System Innovations?</a:t>
            </a:r>
          </a:p>
          <a:p>
            <a:r>
              <a:rPr sz="1600" dirty="0"/>
              <a:t>1. Iron Man AR HUD &amp; BEV 3D </a:t>
            </a:r>
            <a:r>
              <a:rPr sz="1600" dirty="0" err="1"/>
              <a:t>Homography</a:t>
            </a:r>
            <a:r>
              <a:rPr sz="1600" dirty="0"/>
              <a:t> Digital Twin ([⊕] reticles, 24GHz Radar sweeps, LAONROAD tables).</a:t>
            </a:r>
          </a:p>
          <a:p>
            <a:r>
              <a:rPr sz="1600" dirty="0"/>
              <a:t>2. V2X 5G Smart Mobility: C-V2X 5G / DSRC </a:t>
            </a:r>
            <a:r>
              <a:rPr sz="1600" dirty="0" err="1"/>
              <a:t>SPaT</a:t>
            </a:r>
            <a:r>
              <a:rPr sz="1600" dirty="0"/>
              <a:t> &amp; GLOSA speed advisory (45 km/h) for autonomous vehicles.</a:t>
            </a:r>
          </a:p>
          <a:p>
            <a:r>
              <a:rPr sz="1600" dirty="0"/>
              <a:t>3. CMU SURTRAC + </a:t>
            </a:r>
            <a:r>
              <a:rPr sz="1600" dirty="0" err="1"/>
              <a:t>PyTorch</a:t>
            </a:r>
            <a:r>
              <a:rPr sz="1600" dirty="0"/>
              <a:t> DQN Reinforcement Learning: EDF arrival scheduling &amp; MA2C fingerprinting.</a:t>
            </a:r>
          </a:p>
          <a:p>
            <a:r>
              <a:rPr sz="1600" dirty="0"/>
              <a:t>4. 3x3 Parallel 9-Scenario Micro-Simulation Grid: Gold Winner selection (🏆 SIMULATION 05 WINNER, -68.2% delay).</a:t>
            </a:r>
          </a:p>
          <a:p>
            <a:r>
              <a:rPr sz="1600" dirty="0"/>
              <a:t>5. </a:t>
            </a:r>
            <a:r>
              <a:rPr sz="1600" dirty="0" err="1"/>
              <a:t>XGBoost</a:t>
            </a:r>
            <a:r>
              <a:rPr sz="1600" dirty="0"/>
              <a:t> Multi-Horizon Forecasting Engine: +15m / +30m / +60m volume prediction.</a:t>
            </a:r>
          </a:p>
          <a:p>
            <a:r>
              <a:rPr sz="1600" dirty="0"/>
              <a:t>6. 4-Road Quad-Camera Subsystem: North, South, East, West multi-intersection approach tracking.</a:t>
            </a:r>
          </a:p>
          <a:p>
            <a:r>
              <a:rPr sz="1600" dirty="0"/>
              <a:t>7. ANPR License Plate OCR &amp; Automated E-</a:t>
            </a:r>
            <a:r>
              <a:rPr sz="1600" dirty="0" err="1"/>
              <a:t>Challan</a:t>
            </a:r>
            <a:r>
              <a:rPr sz="1600" dirty="0"/>
              <a:t> Issuance System.</a:t>
            </a:r>
          </a:p>
          <a:p>
            <a:r>
              <a:rPr sz="1600" dirty="0"/>
              <a:t>8. Hardware Microcontroller Integration: </a:t>
            </a:r>
            <a:r>
              <a:rPr sz="1600" dirty="0" err="1"/>
              <a:t>Arduino</a:t>
            </a:r>
            <a:r>
              <a:rPr sz="1600" dirty="0"/>
              <a:t> Uno serial relay + Raspberry Pi OLED &amp; MAX7219 VMS LED Matrix.</a:t>
            </a:r>
          </a:p>
          <a:p>
            <a:endParaRPr sz="1600" dirty="0"/>
          </a:p>
          <a:p>
            <a:r>
              <a:rPr sz="1600" dirty="0"/>
              <a:t>What makes it different or innovative?</a:t>
            </a:r>
          </a:p>
          <a:p>
            <a:r>
              <a:rPr sz="1600" dirty="0"/>
              <a:t>Bridges 9 major research literature gaps identified across published academic research papers (</a:t>
            </a:r>
            <a:r>
              <a:rPr sz="1600" dirty="0" err="1"/>
              <a:t>Damadam</a:t>
            </a:r>
            <a:r>
              <a:rPr sz="1600" dirty="0"/>
              <a:t> et al., Chan </a:t>
            </a:r>
            <a:r>
              <a:rPr sz="1600" dirty="0" err="1"/>
              <a:t>Basha</a:t>
            </a:r>
            <a:r>
              <a:rPr sz="1600" dirty="0"/>
              <a:t> et al., </a:t>
            </a:r>
            <a:r>
              <a:rPr sz="1600" dirty="0" err="1"/>
              <a:t>Xuanning</a:t>
            </a:r>
            <a:r>
              <a:rPr sz="1600" dirty="0"/>
              <a:t> Zhang). Combines vision, radar, V2X 5G, </a:t>
            </a:r>
            <a:r>
              <a:rPr sz="1600" dirty="0" err="1"/>
              <a:t>PyTorch</a:t>
            </a:r>
            <a:r>
              <a:rPr sz="1600" dirty="0"/>
              <a:t> DQN RL, 9-Scenario parallel physics simulation, and physical hardware controllers into a single thread-safe edge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TECH STACK &amp; ARCHITECTURE</a:t>
            </a:r>
          </a:p>
        </p:txBody>
      </p:sp>
      <p:sp>
        <p:nvSpPr>
          <p:cNvPr id="7" name="TextBox 6"/>
          <p:cNvSpPr txBox="1"/>
          <p:nvPr/>
        </p:nvSpPr>
        <p:spPr>
          <a:xfrm>
            <a:off x="731520" y="1371600"/>
            <a:ext cx="8421624" cy="4524315"/>
          </a:xfrm>
          <a:prstGeom prst="rect">
            <a:avLst/>
          </a:prstGeom>
          <a:noFill/>
        </p:spPr>
        <p:txBody>
          <a:bodyPr wrap="square">
            <a:spAutoFit/>
          </a:bodyPr>
          <a:lstStyle/>
          <a:p>
            <a:r>
              <a:rPr sz="1600" dirty="0"/>
              <a:t>Tech Stack</a:t>
            </a:r>
          </a:p>
          <a:p>
            <a:r>
              <a:rPr sz="1600" dirty="0"/>
              <a:t>Next.js/React (Dashboard), Python 3.14 (Backend Core), YOLOv26n (Computer Vision), </a:t>
            </a:r>
            <a:r>
              <a:rPr sz="1600" dirty="0" err="1"/>
              <a:t>PyTorch</a:t>
            </a:r>
            <a:r>
              <a:rPr sz="1600" dirty="0"/>
              <a:t> (DQN RL), </a:t>
            </a:r>
            <a:r>
              <a:rPr sz="1600" dirty="0" err="1"/>
              <a:t>XGBoost</a:t>
            </a:r>
            <a:r>
              <a:rPr sz="1600" dirty="0"/>
              <a:t> </a:t>
            </a:r>
            <a:r>
              <a:rPr sz="1600" dirty="0" err="1"/>
              <a:t>Regressor</a:t>
            </a:r>
            <a:r>
              <a:rPr sz="1600" dirty="0"/>
              <a:t> (Multi-horizon forecasting), SQLite (Logging DB), C-V2X 5G Telemetry Engine, </a:t>
            </a:r>
            <a:r>
              <a:rPr sz="1600" dirty="0" err="1"/>
              <a:t>Arduino</a:t>
            </a:r>
            <a:r>
              <a:rPr sz="1600" dirty="0"/>
              <a:t> </a:t>
            </a:r>
            <a:r>
              <a:rPr sz="1600" dirty="0" err="1"/>
              <a:t>PySerial</a:t>
            </a:r>
            <a:r>
              <a:rPr sz="1600" dirty="0"/>
              <a:t>, </a:t>
            </a:r>
            <a:r>
              <a:rPr sz="1600" dirty="0" err="1"/>
              <a:t>RPi.GPIO</a:t>
            </a:r>
            <a:r>
              <a:rPr sz="1600" dirty="0"/>
              <a:t> (Hardware).</a:t>
            </a:r>
          </a:p>
          <a:p>
            <a:endParaRPr sz="1600" dirty="0"/>
          </a:p>
          <a:p>
            <a:r>
              <a:rPr sz="1600" dirty="0"/>
              <a:t>APIs/Libraries</a:t>
            </a:r>
          </a:p>
          <a:p>
            <a:r>
              <a:rPr sz="1600" dirty="0"/>
              <a:t>cv2, </a:t>
            </a:r>
            <a:r>
              <a:rPr sz="1600" dirty="0" err="1"/>
              <a:t>numpy</a:t>
            </a:r>
            <a:r>
              <a:rPr sz="1600" dirty="0"/>
              <a:t>, </a:t>
            </a:r>
            <a:r>
              <a:rPr sz="1600" dirty="0" err="1"/>
              <a:t>ultralytics</a:t>
            </a:r>
            <a:r>
              <a:rPr sz="1600" dirty="0"/>
              <a:t>, torch, </a:t>
            </a:r>
            <a:r>
              <a:rPr sz="1600" dirty="0" err="1"/>
              <a:t>xgboost</a:t>
            </a:r>
            <a:r>
              <a:rPr sz="1600" dirty="0"/>
              <a:t>, </a:t>
            </a:r>
            <a:r>
              <a:rPr sz="1600" dirty="0" err="1"/>
              <a:t>sklearn</a:t>
            </a:r>
            <a:r>
              <a:rPr sz="1600" dirty="0"/>
              <a:t>, flask, pyttsx3, serial, </a:t>
            </a:r>
            <a:r>
              <a:rPr sz="1600" dirty="0" err="1"/>
              <a:t>RPi.GPIO</a:t>
            </a:r>
            <a:r>
              <a:rPr sz="1600" dirty="0"/>
              <a:t>, </a:t>
            </a:r>
            <a:r>
              <a:rPr sz="1600" dirty="0" err="1"/>
              <a:t>luma.oled</a:t>
            </a:r>
            <a:r>
              <a:rPr sz="1600" dirty="0"/>
              <a:t>, </a:t>
            </a:r>
            <a:r>
              <a:rPr sz="1600" dirty="0" err="1"/>
              <a:t>luma.led_matrix</a:t>
            </a:r>
            <a:r>
              <a:rPr sz="1600" dirty="0"/>
              <a:t>, </a:t>
            </a:r>
            <a:r>
              <a:rPr sz="1600" dirty="0" err="1"/>
              <a:t>winsound</a:t>
            </a:r>
            <a:r>
              <a:rPr sz="1600" dirty="0"/>
              <a:t>.</a:t>
            </a:r>
          </a:p>
          <a:p>
            <a:endParaRPr sz="1600" dirty="0"/>
          </a:p>
          <a:p>
            <a:r>
              <a:rPr sz="1600" dirty="0"/>
              <a:t>Deployment Plan</a:t>
            </a:r>
          </a:p>
          <a:p>
            <a:r>
              <a:rPr sz="1600" dirty="0"/>
              <a:t>Edge Node: Containerized </a:t>
            </a:r>
            <a:r>
              <a:rPr sz="1600" dirty="0" err="1"/>
              <a:t>Docker</a:t>
            </a:r>
            <a:r>
              <a:rPr sz="1600" dirty="0"/>
              <a:t> running on NVIDIA </a:t>
            </a:r>
            <a:r>
              <a:rPr sz="1600" dirty="0" err="1"/>
              <a:t>Jetson</a:t>
            </a:r>
            <a:r>
              <a:rPr sz="1600" dirty="0"/>
              <a:t> Orin Nano or Raspberry Pi 5 connected to </a:t>
            </a:r>
            <a:r>
              <a:rPr sz="1600" dirty="0" err="1"/>
              <a:t>Arduino</a:t>
            </a:r>
            <a:r>
              <a:rPr sz="1600" dirty="0"/>
              <a:t> Uno relay traffic controllers, OLED screens, and MAX7219 VMS LED matrices. Cloud Dashboard: Central command React Web UI connecting via REST API &amp; </a:t>
            </a:r>
            <a:r>
              <a:rPr sz="1600" dirty="0" err="1"/>
              <a:t>WebSockets</a:t>
            </a:r>
            <a:r>
              <a:rPr sz="1600" dirty="0"/>
              <a:t>.</a:t>
            </a:r>
          </a:p>
          <a:p>
            <a:endParaRPr sz="1600" dirty="0"/>
          </a:p>
          <a:p>
            <a:r>
              <a:rPr sz="1600" dirty="0"/>
              <a:t>High-level Block Diagram OR Architecture</a:t>
            </a:r>
          </a:p>
          <a:p>
            <a:r>
              <a:rPr sz="1600" dirty="0"/>
              <a:t>Camera &amp; Radar Feed ➔ YOLO + BEV </a:t>
            </a:r>
            <a:r>
              <a:rPr sz="1600" dirty="0" err="1"/>
              <a:t>Homography</a:t>
            </a:r>
            <a:r>
              <a:rPr sz="1600" dirty="0"/>
              <a:t> ➔ V2X 5G Telemetry &amp; C-V2X GLOSA ➔ </a:t>
            </a:r>
            <a:r>
              <a:rPr sz="1600" dirty="0" err="1"/>
              <a:t>PyTorch</a:t>
            </a:r>
            <a:r>
              <a:rPr sz="1600" dirty="0"/>
              <a:t> DQN RL + SURTRAC Signal Optimizer ➔ 9-Scenario Parallel Micro-Simulation ➔ Hardware Relay Controller &amp; Operator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ARCHITECTURE DIAGRAM</a:t>
            </a:r>
          </a:p>
        </p:txBody>
      </p:sp>
      <p:sp>
        <p:nvSpPr>
          <p:cNvPr id="7" name="TextBox 6"/>
          <p:cNvSpPr txBox="1"/>
          <p:nvPr/>
        </p:nvSpPr>
        <p:spPr>
          <a:xfrm>
            <a:off x="731520" y="1371600"/>
            <a:ext cx="3840480" cy="5029200"/>
          </a:xfrm>
          <a:prstGeom prst="rect">
            <a:avLst/>
          </a:prstGeom>
          <a:noFill/>
        </p:spPr>
        <p:txBody>
          <a:bodyPr wrap="square">
            <a:spAutoFit/>
          </a:bodyPr>
          <a:lstStyle/>
          <a:p>
            <a:pPr>
              <a:defRPr sz="1400" b="1">
                <a:solidFill>
                  <a:srgbClr val="000000"/>
                </a:solidFill>
                <a:latin typeface="Arial"/>
              </a:defRPr>
            </a:pPr>
            <a:r>
              <a:t>Show the Technical Flow using a simple block diagram.</a:t>
            </a:r>
          </a:p>
          <a:p>
            <a:pPr>
              <a:defRPr sz="1100">
                <a:solidFill>
                  <a:srgbClr val="505050"/>
                </a:solidFill>
                <a:latin typeface="Arial"/>
              </a:defRPr>
            </a:pPr>
            <a:r>
              <a:t>See the interactive technical flowchart rendered on the right side of this slide.</a:t>
            </a:r>
            <a:br/>
            <a:endParaRPr/>
          </a:p>
          <a:p>
            <a:pPr>
              <a:defRPr sz="1400" b="1">
                <a:solidFill>
                  <a:srgbClr val="000000"/>
                </a:solidFill>
                <a:latin typeface="Arial"/>
              </a:defRPr>
            </a:pPr>
            <a:r>
              <a:t>Mention Frontend/Backend/Tools/API connections.</a:t>
            </a:r>
          </a:p>
          <a:p>
            <a:pPr>
              <a:defRPr sz="1100">
                <a:solidFill>
                  <a:srgbClr val="505050"/>
                </a:solidFill>
                <a:latin typeface="Arial"/>
              </a:defRPr>
            </a:pPr>
            <a:r>
              <a:t>• Frontend: React / Next.js Web UI</a:t>
            </a:r>
            <a:br/>
            <a:r>
              <a:t>• Backend &amp; Core: Python 3.14 + SQLite</a:t>
            </a:r>
            <a:br/>
            <a:r>
              <a:t>• Vision: YOLOv26n on Edge GPU</a:t>
            </a:r>
            <a:br/>
            <a:endParaRPr/>
          </a:p>
          <a:p>
            <a:pPr>
              <a:defRPr sz="1400" b="1">
                <a:solidFill>
                  <a:srgbClr val="000000"/>
                </a:solidFill>
                <a:latin typeface="Arial"/>
              </a:defRPr>
            </a:pPr>
            <a:r>
              <a:t>Include Cloud/Database/ML Model (if applicable)</a:t>
            </a:r>
          </a:p>
          <a:p>
            <a:pPr>
              <a:defRPr sz="1100">
                <a:solidFill>
                  <a:srgbClr val="505050"/>
                </a:solidFill>
                <a:latin typeface="Arial"/>
              </a:defRPr>
            </a:pPr>
            <a:r>
              <a:t>• ML Model: YOLOv26n (5.29 MB)</a:t>
            </a:r>
            <a:br/>
            <a:r>
              <a:t>• DB: Structured SQLite on edge, synced to central cloud.</a:t>
            </a:r>
            <a:br/>
            <a:endParaRPr/>
          </a:p>
        </p:txBody>
      </p:sp>
      <p:sp>
        <p:nvSpPr>
          <p:cNvPr id="8" name="Rounded Rectangle 7"/>
          <p:cNvSpPr/>
          <p:nvPr/>
        </p:nvSpPr>
        <p:spPr>
          <a:xfrm>
            <a:off x="7223760" y="859536"/>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Camera Feed</a:t>
            </a:r>
          </a:p>
        </p:txBody>
      </p:sp>
      <p:sp>
        <p:nvSpPr>
          <p:cNvPr id="9" name="Down Arrow 8"/>
          <p:cNvSpPr/>
          <p:nvPr/>
        </p:nvSpPr>
        <p:spPr>
          <a:xfrm>
            <a:off x="7955279" y="1298448"/>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223760" y="1527048"/>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YOLO Object Detector</a:t>
            </a:r>
          </a:p>
        </p:txBody>
      </p:sp>
      <p:sp>
        <p:nvSpPr>
          <p:cNvPr id="11" name="Down Arrow 10"/>
          <p:cNvSpPr/>
          <p:nvPr/>
        </p:nvSpPr>
        <p:spPr>
          <a:xfrm>
            <a:off x="7955279" y="1938528"/>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iamond 11"/>
          <p:cNvSpPr/>
          <p:nvPr/>
        </p:nvSpPr>
        <p:spPr>
          <a:xfrm>
            <a:off x="7223760" y="2212848"/>
            <a:ext cx="1645920" cy="502920"/>
          </a:xfrm>
          <a:prstGeom prst="diamond">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b="1">
                <a:solidFill>
                  <a:srgbClr val="FFFFFF"/>
                </a:solidFill>
                <a:latin typeface="Arial"/>
              </a:defRPr>
            </a:pPr>
            <a:r>
              <a:t>Classifier</a:t>
            </a:r>
          </a:p>
        </p:txBody>
      </p:sp>
      <p:sp>
        <p:nvSpPr>
          <p:cNvPr id="13" name="Rectangle 12"/>
          <p:cNvSpPr/>
          <p:nvPr/>
        </p:nvSpPr>
        <p:spPr>
          <a:xfrm>
            <a:off x="5303520" y="2761488"/>
            <a:ext cx="192024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035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52120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06824" y="2788920"/>
            <a:ext cx="1645920" cy="228600"/>
          </a:xfrm>
          <a:prstGeom prst="rect">
            <a:avLst/>
          </a:prstGeom>
          <a:noFill/>
        </p:spPr>
        <p:txBody>
          <a:bodyPr wrap="none">
            <a:spAutoFit/>
          </a:bodyPr>
          <a:lstStyle/>
          <a:p>
            <a:pPr algn="l">
              <a:defRPr sz="750" i="1">
                <a:solidFill>
                  <a:srgbClr val="333333"/>
                </a:solidFill>
                <a:latin typeface="Arial"/>
              </a:defRPr>
            </a:pPr>
            <a:r>
              <a:rPr dirty="0"/>
              <a:t>Pedestrians/Bicycles</a:t>
            </a:r>
          </a:p>
        </p:txBody>
      </p:sp>
      <p:sp>
        <p:nvSpPr>
          <p:cNvPr id="17" name="Rectangle 16"/>
          <p:cNvSpPr/>
          <p:nvPr/>
        </p:nvSpPr>
        <p:spPr>
          <a:xfrm>
            <a:off x="71323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323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wn Arrow 18"/>
          <p:cNvSpPr/>
          <p:nvPr/>
        </p:nvSpPr>
        <p:spPr>
          <a:xfrm>
            <a:off x="70408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35624" y="2788920"/>
            <a:ext cx="1645920" cy="228600"/>
          </a:xfrm>
          <a:prstGeom prst="rect">
            <a:avLst/>
          </a:prstGeom>
          <a:noFill/>
        </p:spPr>
        <p:txBody>
          <a:bodyPr wrap="none">
            <a:spAutoFit/>
          </a:bodyPr>
          <a:lstStyle/>
          <a:p>
            <a:pPr algn="l">
              <a:defRPr sz="750" i="1">
                <a:solidFill>
                  <a:srgbClr val="333333"/>
                </a:solidFill>
                <a:latin typeface="Arial"/>
              </a:defRPr>
            </a:pPr>
            <a:r>
              <a:rPr dirty="0"/>
              <a:t>Emergency Vehicles</a:t>
            </a:r>
          </a:p>
        </p:txBody>
      </p:sp>
      <p:sp>
        <p:nvSpPr>
          <p:cNvPr id="21" name="Rectangle 20"/>
          <p:cNvSpPr/>
          <p:nvPr/>
        </p:nvSpPr>
        <p:spPr>
          <a:xfrm>
            <a:off x="80467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611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22"/>
          <p:cNvSpPr/>
          <p:nvPr/>
        </p:nvSpPr>
        <p:spPr>
          <a:xfrm>
            <a:off x="88696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0" y="2788920"/>
            <a:ext cx="1645920" cy="228600"/>
          </a:xfrm>
          <a:prstGeom prst="rect">
            <a:avLst/>
          </a:prstGeom>
          <a:noFill/>
        </p:spPr>
        <p:txBody>
          <a:bodyPr wrap="none">
            <a:spAutoFit/>
          </a:bodyPr>
          <a:lstStyle/>
          <a:p>
            <a:pPr algn="l">
              <a:defRPr sz="750" i="1">
                <a:solidFill>
                  <a:srgbClr val="333333"/>
                </a:solidFill>
                <a:latin typeface="Arial"/>
              </a:defRPr>
            </a:pPr>
            <a:r>
              <a:t>Vehicles</a:t>
            </a:r>
          </a:p>
        </p:txBody>
      </p:sp>
      <p:sp>
        <p:nvSpPr>
          <p:cNvPr id="25" name="Rounded Rectangle 24"/>
          <p:cNvSpPr/>
          <p:nvPr/>
        </p:nvSpPr>
        <p:spPr>
          <a:xfrm>
            <a:off x="44805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Pedestrian &amp; Lane Alerts</a:t>
            </a:r>
          </a:p>
        </p:txBody>
      </p:sp>
      <p:sp>
        <p:nvSpPr>
          <p:cNvPr id="26" name="Rounded Rectangle 25"/>
          <p:cNvSpPr/>
          <p:nvPr/>
        </p:nvSpPr>
        <p:spPr>
          <a:xfrm>
            <a:off x="6309360" y="333756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Emergency Signal Priority</a:t>
            </a:r>
          </a:p>
        </p:txBody>
      </p:sp>
      <p:sp>
        <p:nvSpPr>
          <p:cNvPr id="27" name="Rounded Rectangle 26"/>
          <p:cNvSpPr/>
          <p:nvPr/>
        </p:nvSpPr>
        <p:spPr>
          <a:xfrm>
            <a:off x="81381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Speed &amp; Incident Detector</a:t>
            </a:r>
          </a:p>
        </p:txBody>
      </p:sp>
      <p:sp>
        <p:nvSpPr>
          <p:cNvPr id="28" name="Right Arrow 27"/>
          <p:cNvSpPr/>
          <p:nvPr/>
        </p:nvSpPr>
        <p:spPr>
          <a:xfrm>
            <a:off x="9829800" y="3429000"/>
            <a:ext cx="109728" cy="182880"/>
          </a:xfrm>
          <a:prstGeom prst="right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9669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Emergency Service Dispatch</a:t>
            </a:r>
          </a:p>
        </p:txBody>
      </p:sp>
      <p:sp>
        <p:nvSpPr>
          <p:cNvPr id="30" name="Down Arrow 29"/>
          <p:cNvSpPr/>
          <p:nvPr/>
        </p:nvSpPr>
        <p:spPr>
          <a:xfrm>
            <a:off x="70408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wn Arrow 30"/>
          <p:cNvSpPr/>
          <p:nvPr/>
        </p:nvSpPr>
        <p:spPr>
          <a:xfrm>
            <a:off x="88696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wn Arrow 31"/>
          <p:cNvSpPr/>
          <p:nvPr/>
        </p:nvSpPr>
        <p:spPr>
          <a:xfrm>
            <a:off x="106984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187184" y="3749039"/>
            <a:ext cx="1719072" cy="45719"/>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3093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Adaptive Signal Manager</a:t>
            </a:r>
          </a:p>
        </p:txBody>
      </p:sp>
      <p:sp>
        <p:nvSpPr>
          <p:cNvPr id="35" name="Rounded Rectangle 34"/>
          <p:cNvSpPr/>
          <p:nvPr/>
        </p:nvSpPr>
        <p:spPr>
          <a:xfrm>
            <a:off x="81381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2D Spatial Twin Renderer</a:t>
            </a:r>
          </a:p>
        </p:txBody>
      </p:sp>
      <p:sp>
        <p:nvSpPr>
          <p:cNvPr id="36" name="Rounded Rectangle 35"/>
          <p:cNvSpPr/>
          <p:nvPr/>
        </p:nvSpPr>
        <p:spPr>
          <a:xfrm>
            <a:off x="99669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Voice Alert &amp; Database Log</a:t>
            </a:r>
          </a:p>
        </p:txBody>
      </p:sp>
      <p:sp>
        <p:nvSpPr>
          <p:cNvPr id="37" name="Down Arrow 36"/>
          <p:cNvSpPr/>
          <p:nvPr/>
        </p:nvSpPr>
        <p:spPr>
          <a:xfrm>
            <a:off x="7040880" y="43891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09360" y="466344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Traffic Light Controller</a:t>
            </a:r>
          </a:p>
        </p:txBody>
      </p:sp>
      <p:sp>
        <p:nvSpPr>
          <p:cNvPr id="39" name="Down Arrow 38"/>
          <p:cNvSpPr/>
          <p:nvPr/>
        </p:nvSpPr>
        <p:spPr>
          <a:xfrm>
            <a:off x="70408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61120" y="4343400"/>
            <a:ext cx="18288" cy="9601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own Arrow 40"/>
          <p:cNvSpPr/>
          <p:nvPr/>
        </p:nvSpPr>
        <p:spPr>
          <a:xfrm>
            <a:off x="88696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309360" y="5349240"/>
            <a:ext cx="3474720" cy="502920"/>
          </a:xfrm>
          <a:prstGeom prst="roundRect">
            <a:avLst/>
          </a:prstGeom>
          <a:solidFill>
            <a:srgbClr val="00994C"/>
          </a:solidFill>
          <a:ln w="15240">
            <a:solidFill>
              <a:srgbClr val="00994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50" b="1">
                <a:solidFill>
                  <a:srgbClr val="FFFFFF"/>
                </a:solidFill>
                <a:latin typeface="Arial"/>
              </a:defRPr>
            </a:pPr>
            <a:r>
              <a:t>Operator Dashboard UI with XAI &amp; CO2 stats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1828800" y="2743200"/>
            <a:ext cx="8531352" cy="1828800"/>
          </a:xfrm>
          <a:prstGeom prst="rect">
            <a:avLst/>
          </a:prstGeom>
          <a:noFill/>
        </p:spPr>
        <p:txBody>
          <a:bodyPr wrap="none">
            <a:spAutoFit/>
          </a:bodyPr>
          <a:lstStyle/>
          <a:p>
            <a:pPr algn="l">
              <a:defRPr sz="5400" b="1">
                <a:solidFill>
                  <a:srgbClr val="000000"/>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843</Words>
  <Application>Microsoft Office PowerPoint</Application>
  <PresentationFormat>Custom</PresentationFormat>
  <Paragraphs>96</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Welcome</dc:creator>
  <cp:keywords/>
  <dc:description>generated using python-pptx</dc:description>
  <cp:lastModifiedBy>Welcome</cp:lastModifiedBy>
  <cp:revision>2</cp:revision>
  <dcterms:created xsi:type="dcterms:W3CDTF">2013-01-27T09:14:16Z</dcterms:created>
  <dcterms:modified xsi:type="dcterms:W3CDTF">2026-08-02T15:44:49Z</dcterms:modified>
  <cp:category/>
</cp:coreProperties>
</file>