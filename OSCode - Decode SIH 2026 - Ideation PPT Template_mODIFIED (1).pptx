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8288000" cy="10287000"/>
  <p:notesSz cx="6858000" cy="9144000"/>
  <p:embeddedFontLst>
    <p:embeddedFont>
      <p:font typeface="Inter Bold" panose="020B0604020202020204" charset="0"/>
      <p:regular r:id="rId11"/>
    </p:embeddedFont>
    <p:embeddedFont>
      <p:font typeface="Poppins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19" y="7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0" y="1911618"/>
            <a:ext cx="18288000" cy="3436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u="sng" dirty="0" smtClean="0">
                <a:latin typeface="Inter" panose="020B0604020202020204" charset="0"/>
                <a:ea typeface="Inter" panose="020B0604020202020204" charset="0"/>
              </a:rPr>
              <a:t>TRAFFIXAI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dirty="0" smtClean="0">
                <a:latin typeface="Inter" panose="020B0604020202020204" charset="0"/>
                <a:ea typeface="Inter" panose="020B0604020202020204" charset="0"/>
              </a:rPr>
              <a:t>AI-Powered </a:t>
            </a:r>
            <a:r>
              <a:rPr lang="en-US" sz="4800" dirty="0">
                <a:latin typeface="Inter" panose="020B0604020202020204" charset="0"/>
                <a:ea typeface="Inter" panose="020B0604020202020204" charset="0"/>
              </a:rPr>
              <a:t>Smart City Traffic Digital Twin with Emergency Response and Congestion Intelligence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endParaRPr lang="en-US" sz="4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38200" y="933450"/>
            <a:ext cx="539025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DECODE SIH 2026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38199" y="8475157"/>
            <a:ext cx="5929265" cy="789906"/>
            <a:chOff x="-1168400" y="-89151"/>
            <a:chExt cx="7905686" cy="1053209"/>
          </a:xfrm>
        </p:grpSpPr>
        <p:sp>
          <p:nvSpPr>
            <p:cNvPr id="18" name="TextBox 18"/>
            <p:cNvSpPr txBox="1"/>
            <p:nvPr/>
          </p:nvSpPr>
          <p:spPr>
            <a:xfrm>
              <a:off x="-1168400" y="-89151"/>
              <a:ext cx="7569199" cy="5996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PRESENTED BY: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29895"/>
              <a:ext cx="6737286" cy="5341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endPara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4A779EAD-557F-1079-E07B-1CF4720B9198}"/>
              </a:ext>
            </a:extLst>
          </p:cNvPr>
          <p:cNvSpPr txBox="1"/>
          <p:nvPr/>
        </p:nvSpPr>
        <p:spPr>
          <a:xfrm>
            <a:off x="685800" y="8923863"/>
            <a:ext cx="1828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Inter" panose="020B0604020202020204" charset="0"/>
                <a:ea typeface="Inter" panose="020B0604020202020204" charset="0"/>
                <a:cs typeface="Calibri" pitchFamily="34" charset="-120"/>
              </a:rPr>
              <a:t>CipherSquad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Calibri" pitchFamily="34" charset="-120"/>
              </a:rPr>
              <a:t> (Code: KE5VND)Adamas University, Kolkata| SIH 2026 Bharat Nirman PS1</a:t>
            </a:r>
            <a:endParaRPr lang="en-IN" sz="24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6087228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TEAM MEMBERS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4036" y="2147649"/>
            <a:ext cx="16869164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Deep Shekhar Halder (Team Leader)
Sayan Pramanik</a:t>
            </a:r>
          </a:p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endParaRPr lang="en-IN" sz="2400" dirty="0">
              <a:latin typeface="Inter" panose="020B0604020202020204" charset="0"/>
              <a:ea typeface="Inter" panose="020B0604020202020204" charset="0"/>
            </a:endParaRPr>
          </a:p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Soumyojit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Banerjee
Suman Mondal
</a:t>
            </a:r>
          </a:p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Kausturi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Chakraborty
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Rituraj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IN" sz="2400" dirty="0" err="1" smtClean="0">
                <a:latin typeface="Inter" panose="020B0604020202020204" charset="0"/>
                <a:ea typeface="Inter" panose="020B0604020202020204" charset="0"/>
              </a:rPr>
              <a:t>SahaL</a:t>
            </a:r>
            <a:endParaRPr lang="en-IN" sz="24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7124700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5143" y="1894639"/>
            <a:ext cx="16434157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b="1" u="sng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Title:</a:t>
            </a: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AI Traffic Digital Twin for Smart Traffic Optimization and Congestion Prediction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75011" y="2616877"/>
            <a:ext cx="16472257" cy="5406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What does this Problem Aim to Solve?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b="1" u="sng" dirty="0">
                <a:latin typeface="Inter Bold" panose="020B0604020202020204" charset="0"/>
                <a:ea typeface="Inter Bold" panose="020B0604020202020204" charset="0"/>
              </a:rPr>
              <a:t>The core problem: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• Urban traffic congestion drives massive economic losses, increased carbon emissions, and severely slower emergency response times in Indian cities.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• Current traffic signal controllers rely on fixed timers or manual intervention, completely blind to real-time lane-level 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density and vehicle priority.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b="1" u="sng" dirty="0">
                <a:latin typeface="Inter Bold" panose="020B0604020202020204" charset="0"/>
                <a:ea typeface="Inter Bold" panose="020B0604020202020204" charset="0"/>
              </a:rPr>
              <a:t>Problem it aims to solve: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• Transition traffic networks from static timing to fully adaptive, real-time decision-making.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• Fuse AI vision, radar, and V2X telemetry into a live 3D digital twin to predict congestion and prioritize emergency vehicles automatically</a:t>
            </a:r>
            <a:r>
              <a:rPr lang="en-US" sz="2600" dirty="0"/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01080" y="7465755"/>
            <a:ext cx="16230600" cy="255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did your team choose this?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• We already developed and optimized an edge traffic AI core that transforms video streams into live spatial coordinate systems.</a:t>
            </a:r>
          </a:p>
          <a:p>
            <a:pPr>
              <a:spcAft>
                <a:spcPts val="800"/>
              </a:spcAft>
              <a:defRPr sz="12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• This existing 2D digital twin foundation allowed us to accelerate development and focus on a real-world deployable platform.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640790"/>
            <a:ext cx="11620500" cy="82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REAL-WORLD PROBLEM ALIGNMENT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732041"/>
            <a:ext cx="18288000" cy="250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Who faces this issue?</a:t>
            </a:r>
            <a:r>
              <a:rPr lang="en-US" sz="2400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"/>
                <a:sym typeface="Inter"/>
              </a:rPr>
              <a:t> 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Daily Commuters: Endure long travel delays and fuel wastage.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Emergency Services: Ambulances and fire engines delayed by static gridlocks.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Smart-City Authorities: Lack analytics and tools for active management.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Connected &amp; Autonomous Vehicles (CAVs): Require real-time signal phase and timing (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SPaT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) data.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92605" y="4096237"/>
            <a:ext cx="18288000" cy="209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What’s the current gap in the system?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Fixed-time signal cycles fail to adapt to live traffic density.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No lane-level spatial awareness or emergency vehicle preemption.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Lack of multi-sensor fusion (vision and radar) to handle poor weather or low-visibility conditions.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64532" y="6059483"/>
            <a:ext cx="18288000" cy="2158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How does your proposed solution fill that gap practically?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IN" sz="2400" dirty="0" smtClean="0">
                <a:latin typeface="Inter" panose="020B0604020202020204" charset="0"/>
                <a:ea typeface="Inter" panose="020B0604020202020204" charset="0"/>
              </a:rPr>
              <a:t>Live 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3D Digital Twin model built by fusing YOLOv26n vision, Doppler radar, and V2X telemetry.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Reinforcement learning (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PyTorch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DQN) dynamically adapts signals.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SUMO micro-simulation validates policies in real time before deployment on hardware controllers.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12658" y="8087859"/>
            <a:ext cx="16230600" cy="209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If possible, mention if it connects to any existing schemes. </a:t>
            </a:r>
            <a:r>
              <a:rPr lang="en-US" sz="24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(E.G., Skill India, Digital India, etc.)</a:t>
            </a:r>
            <a:r>
              <a:rPr lang="en-US" sz="2400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Bold"/>
                <a:sym typeface="Inter Bold"/>
              </a:rPr>
              <a:t> 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Smart Cities Mission: Directly provides intelligent transportation and traffic optimization.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Digital India: Deploys state-of-the-art AI core and models directly on resource-constrained edge hardware.</a:t>
            </a:r>
          </a:p>
          <a:p>
            <a:pPr>
              <a:spcAft>
                <a:spcPts val="300"/>
              </a:spcAft>
              <a:defRPr sz="1100">
                <a:solidFill>
                  <a:srgbClr val="1C2541"/>
                </a:solidFill>
                <a:latin typeface="Arial"/>
              </a:defRPr>
            </a:pP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National Automotive Board V2X Connected Vehicle Initiative: Implements C-V2X 5G GLOSA speed advisories</a:t>
            </a:r>
            <a:r>
              <a:rPr lang="en-US" sz="2400" dirty="0"/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800100"/>
            <a:ext cx="7200900" cy="82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PROPOSED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188" y="1638300"/>
            <a:ext cx="16230600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What are you Building?</a:t>
            </a:r>
            <a:endParaRPr lang="en-US" sz="2400" b="1" dirty="0">
              <a:solidFill>
                <a:srgbClr val="000000"/>
              </a:solidFill>
              <a:latin typeface="Inter Bold" panose="020B0604020202020204" charset="0"/>
              <a:ea typeface="Inter Bold" panose="020B0604020202020204" charset="0"/>
              <a:cs typeface="Inter Bold"/>
              <a:sym typeface="Inter"/>
            </a:endParaRPr>
          </a:p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TraffixAI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is an AI-powered Smart City Traffic Digital Twin that fuses YOLOv26n computer vision, 24GHz Doppler radar, and C‑V2X telemetry into a live 3D traffic model. Reinforcement learning dynamically optimizes traffic signals while simulation validates decisions before deployment. The platform also supports emergency vehicle prioritization, ANPR e‑challans, congestion forecasting, and carbon-emission tracking.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67932" y="3721298"/>
            <a:ext cx="16558068" cy="5232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What are the 3-4 Key Features?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u="sng" dirty="0">
                <a:latin typeface="Inter Bold" panose="020B0604020202020204" charset="0"/>
                <a:ea typeface="Inter Bold" panose="020B0604020202020204" charset="0"/>
              </a:rPr>
              <a:t>Digital Twin + BEV Tracking:</a:t>
            </a:r>
            <a:r>
              <a:rPr lang="en-US" sz="2400" b="1" dirty="0">
                <a:latin typeface="Inter Bold" panose="020B0604020202020204" charset="0"/>
                <a:ea typeface="Inter Bold" panose="020B0604020202020204" charset="0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Generates a 3D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homography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bird's-eye-view of intersections with live per-lane reticle tracking.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/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u="sng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DQN + SURTRAC Optimization:</a:t>
            </a:r>
            <a:r>
              <a:rPr lang="en-US" sz="2400" b="1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PyTorch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reinforcement learning combined with SURTRAC earliest-deadline-first arrival scheduling.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u="sng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Emergency Vehicle Priority:</a:t>
            </a:r>
            <a:r>
              <a:rPr lang="en-US" sz="2400" b="1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Acoustic siren preemption and C-V2X direct signals grant green clearance instantly.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/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u="sng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Congestion Forecasting and ANPR:</a:t>
            </a:r>
            <a:r>
              <a:rPr lang="en-US" sz="2400" b="1" dirty="0">
                <a:solidFill>
                  <a:srgbClr val="000000"/>
                </a:solidFill>
                <a:latin typeface="Inter Bold" panose="020B0604020202020204" charset="0"/>
                <a:ea typeface="Inter Bold" panose="020B0604020202020204" charset="0"/>
                <a:cs typeface="Inter Bold"/>
                <a:sym typeface="Inter Bold"/>
              </a:rPr>
              <a:t> </a:t>
            </a:r>
            <a:r>
              <a:rPr lang="en-US" sz="2400" dirty="0" err="1">
                <a:latin typeface="Inter" panose="020B0604020202020204" charset="0"/>
                <a:ea typeface="Inter" panose="020B0604020202020204" charset="0"/>
              </a:rPr>
              <a:t>XGBoost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 multi-horizon volume prediction (+15m / +30m / +60m) and license-plate OCR.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5134" y="8455225"/>
            <a:ext cx="16230600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makes it different or innovative?</a:t>
            </a:r>
          </a:p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Combines camera vision, 24GHz radar fusion, C-V2X direct vehicle comms, Deep-Q signal optimization, and parallel micro-simulation validation into a single, cohesive thread-safe platform deployed directly on edge-nodes.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10553700" cy="82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 &amp; ARCHITECTURE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847903"/>
            <a:ext cx="16230600" cy="250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Frontend command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center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: Next.js and React Dashboard.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Backend core service: Python 3.14 + Flask REST/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WebSockets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Computer Vision &amp; ML: YOLOv26n,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PyTorch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XGBoost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Telemetry &amp; Hardware: C-V2X 5G, SQLite logging, Arduino, Raspberry Pi</a:t>
            </a:r>
            <a:r>
              <a:rPr lang="en-IN" sz="2400" dirty="0"/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0679" y="4113474"/>
            <a:ext cx="16230600" cy="209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APIs/Libraries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Vision/ML: cv2,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numpy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ultralytics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(YOLO), torch,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xgboost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sklearn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Backend/Communications: flask, pyttsx3, serial,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RPi.GPIO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Display/Indicators: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luma.oled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luma.led_matrix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winsound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44742" y="5961378"/>
            <a:ext cx="16230600" cy="209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 Plan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Edge Node: Containerized Docker running on NVIDIA Jetson Orin Nano or Raspberry Pi 5.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Hardware Interfaces: Arduino Uno relay traffic controllers + OLED screen + MAX7219 VMS LED matrix.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Cloud: Command-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center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React dashboard hosting the map view &amp; database logs.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0679" y="7779801"/>
            <a:ext cx="16230600" cy="250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High-level Block Diagram OR Architecture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•SENSE: Camera &amp; radar streams are processed in real time.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•TWIN: YOLOv26n + bird's-eye BEV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homography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creates 3D intersection.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OPTIMIZE: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PyTorch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DQN + SURTRAC scheduler evaluates signal phase.</a:t>
            </a:r>
          </a:p>
          <a:p>
            <a:pPr>
              <a:spcAft>
                <a:spcPts val="300"/>
              </a:spcAft>
              <a:defRPr sz="1000">
                <a:solidFill>
                  <a:srgbClr val="1C2541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ACT: Candidate policies validated in a 9-scenario SUMO grid then sent to Arduino controllers</a:t>
            </a:r>
            <a:r>
              <a:rPr lang="en-IN" sz="2400" dirty="0"/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400" y="933450"/>
            <a:ext cx="8343900" cy="82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ARCHITECTURE DIAGRAM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183627"/>
            <a:ext cx="73533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rPr lang="en-IN" sz="2400" dirty="0">
                <a:latin typeface="Inter Bold" panose="020B0604020202020204" charset="0"/>
                <a:ea typeface="Inter Bold" panose="020B0604020202020204" charset="0"/>
              </a:rPr>
              <a:t>Show the Technical Flow using a simple block diagram.</a:t>
            </a:r>
          </a:p>
          <a:p>
            <a:pPr>
              <a:defRPr sz="1100">
                <a:solidFill>
                  <a:srgbClr val="505050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See the interactive technical flowchart rendered on the right side of this slide.</a:t>
            </a:r>
            <a:r>
              <a:rPr lang="en-IN" sz="3000" dirty="0"/>
              <a:t/>
            </a:r>
            <a:br>
              <a:rPr lang="en-IN" sz="3000" dirty="0"/>
            </a:br>
            <a:endParaRPr lang="en-IN" sz="2400" dirty="0">
              <a:latin typeface="Inter Bold" panose="020B0604020202020204" charset="0"/>
              <a:ea typeface="Inter Bold" panose="020B0604020202020204" charset="0"/>
            </a:endParaRPr>
          </a:p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rPr lang="en-IN" sz="2400" dirty="0">
                <a:latin typeface="Inter Bold" panose="020B0604020202020204" charset="0"/>
                <a:ea typeface="Inter Bold" panose="020B0604020202020204" charset="0"/>
              </a:rPr>
              <a:t>Mention Frontend/Backend/Tools/API connections.</a:t>
            </a:r>
          </a:p>
          <a:p>
            <a:pPr>
              <a:defRPr sz="1100">
                <a:solidFill>
                  <a:srgbClr val="505050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Frontend: React &amp;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MapLibre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 3D GIS</a:t>
            </a:r>
            <a:br>
              <a:rPr lang="en-IN" sz="2400" dirty="0">
                <a:latin typeface="Inter" panose="020B0604020202020204" charset="0"/>
                <a:ea typeface="Inter" panose="020B0604020202020204" charset="0"/>
              </a:rPr>
            </a:b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Backend &amp; Core: Python 3.14 + Flask</a:t>
            </a:r>
            <a:br>
              <a:rPr lang="en-IN" sz="2400" dirty="0">
                <a:latin typeface="Inter" panose="020B0604020202020204" charset="0"/>
                <a:ea typeface="Inter" panose="020B0604020202020204" charset="0"/>
              </a:rPr>
            </a:b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API: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Groq</a:t>
            </a:r>
            <a:endParaRPr lang="en-IN" sz="2400" dirty="0">
              <a:latin typeface="Inter" panose="020B0604020202020204" charset="0"/>
              <a:ea typeface="Inter" panose="020B0604020202020204" charset="0"/>
            </a:endParaRPr>
          </a:p>
          <a:p>
            <a:pPr>
              <a:defRPr sz="1100">
                <a:solidFill>
                  <a:srgbClr val="505050"/>
                </a:solidFill>
                <a:latin typeface="Arial"/>
              </a:defRPr>
            </a:pPr>
            <a:endParaRPr lang="en-IN" sz="3000" dirty="0"/>
          </a:p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rPr lang="en-IN" sz="2400" dirty="0">
                <a:latin typeface="Inter Bold" panose="020B0604020202020204" charset="0"/>
                <a:ea typeface="Inter Bold" panose="020B0604020202020204" charset="0"/>
              </a:rPr>
              <a:t>Include Cloud/Database/ML Model (if applicable)</a:t>
            </a:r>
          </a:p>
          <a:p>
            <a:pPr>
              <a:defRPr sz="1100">
                <a:solidFill>
                  <a:srgbClr val="505050"/>
                </a:solidFill>
                <a:latin typeface="Arial"/>
              </a:defRPr>
            </a:pP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ML Model: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PyTorch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, Scikit Learn, </a:t>
            </a:r>
            <a:r>
              <a:rPr lang="en-IN" sz="2400" dirty="0" err="1">
                <a:latin typeface="Inter" panose="020B0604020202020204" charset="0"/>
                <a:ea typeface="Inter" panose="020B0604020202020204" charset="0"/>
              </a:rPr>
              <a:t>XGBoost</a:t>
            </a: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, YOLOv26n</a:t>
            </a:r>
            <a:br>
              <a:rPr lang="en-IN" sz="2400" dirty="0">
                <a:latin typeface="Inter" panose="020B0604020202020204" charset="0"/>
                <a:ea typeface="Inter" panose="020B0604020202020204" charset="0"/>
              </a:rPr>
            </a:br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DB: Structured SQLite on edge, synced to central cloud.</a:t>
            </a:r>
            <a:r>
              <a:rPr lang="en-IN" sz="3000" dirty="0"/>
              <a:t/>
            </a:r>
            <a:br>
              <a:rPr lang="en-IN" sz="3000" dirty="0"/>
            </a:br>
            <a:endParaRPr lang="en-IN" sz="3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DE1CF537-D39A-29BE-D803-0062B14A2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1001822"/>
            <a:ext cx="9357852" cy="89919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AB17B29-5557-18D3-72B5-62760762DEB3}"/>
              </a:ext>
            </a:extLst>
          </p:cNvPr>
          <p:cNvSpPr txBox="1"/>
          <p:nvPr/>
        </p:nvSpPr>
        <p:spPr>
          <a:xfrm>
            <a:off x="800182" y="1706736"/>
            <a:ext cx="1828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From Research Gaps to a Deployable Digital Twin</a:t>
            </a:r>
          </a:p>
          <a:p>
            <a:r>
              <a:rPr lang="en-US" sz="2400" dirty="0" err="1">
                <a:latin typeface="Inter" panose="020B0604020202020204" charset="0"/>
                <a:ea typeface="Inter" panose="020B0604020202020204" charset="0"/>
                <a:cs typeface="Calibri" pitchFamily="34" charset="-120"/>
              </a:rPr>
              <a:t>TraffixAI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Calibri" pitchFamily="34" charset="-120"/>
              </a:rPr>
              <a:t> unifies vision, radar, V2X connectivity, reinforcement-learning signal control, and simulation-validated deployment into a single thread-safe edge system — directly aligned with the Smart Cities Mission, Digital India, and V2X connected-vehicle initiatives.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56D9D404-C090-2077-D564-01F5EB739891}"/>
              </a:ext>
            </a:extLst>
          </p:cNvPr>
          <p:cNvSpPr txBox="1"/>
          <p:nvPr/>
        </p:nvSpPr>
        <p:spPr>
          <a:xfrm>
            <a:off x="762000" y="5730776"/>
            <a:ext cx="18592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Inter" panose="020B0604020202020204" charset="0"/>
                <a:ea typeface="Inter" panose="020B0604020202020204" charset="0"/>
              </a:rPr>
              <a:t>• Multi-intersection network-wide coordination</a:t>
            </a:r>
          </a:p>
          <a:p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• Federated learning across city-wide edge nodes</a:t>
            </a:r>
          </a:p>
          <a:p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>• Pilot deployment with a municipal traffic authority</a:t>
            </a:r>
          </a:p>
          <a:p>
            <a:endParaRPr lang="en-IN"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D0D62C7-D4FF-CE95-2B51-F9109DDD10E1}"/>
              </a:ext>
            </a:extLst>
          </p:cNvPr>
          <p:cNvSpPr txBox="1"/>
          <p:nvPr/>
        </p:nvSpPr>
        <p:spPr>
          <a:xfrm>
            <a:off x="800182" y="875739"/>
            <a:ext cx="1074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u="sng" dirty="0">
                <a:latin typeface="Inter Bold" panose="020B0604020202020204" charset="0"/>
                <a:ea typeface="Inter Bold" panose="020B0604020202020204" charset="0"/>
              </a:rPr>
              <a:t>Conclusion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3B26E781-7B3C-B53F-5381-72C3F98C1F1A}"/>
              </a:ext>
            </a:extLst>
          </p:cNvPr>
          <p:cNvSpPr txBox="1"/>
          <p:nvPr/>
        </p:nvSpPr>
        <p:spPr>
          <a:xfrm>
            <a:off x="800182" y="4653404"/>
            <a:ext cx="1074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u="sng" dirty="0">
                <a:latin typeface="Inter Bold" panose="020B0604020202020204" charset="0"/>
                <a:ea typeface="Inter Bold" panose="020B0604020202020204" charset="0"/>
              </a:rPr>
              <a:t>Future Work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115669" y="4406249"/>
            <a:ext cx="8056662" cy="810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944</Words>
  <Application>Microsoft Office PowerPoint</Application>
  <PresentationFormat>Custom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Inter Bold</vt:lpstr>
      <vt:lpstr>Arial</vt:lpstr>
      <vt:lpstr>Poppins Bold</vt:lpstr>
      <vt:lpstr>Calibri</vt:lpstr>
      <vt:lpstr>Poppins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OSCode - Decode SIH 2026 - Ideation PPT Template</dc:title>
  <dc:creator>Welcome</dc:creator>
  <cp:lastModifiedBy>Welcome</cp:lastModifiedBy>
  <cp:revision>6</cp:revision>
  <dcterms:created xsi:type="dcterms:W3CDTF">2006-08-16T00:00:00Z</dcterms:created>
  <dcterms:modified xsi:type="dcterms:W3CDTF">2026-08-11T16:05:39Z</dcterms:modified>
  <dc:identifier>DAHQFtkfUsc</dc:identifier>
</cp:coreProperties>
</file>